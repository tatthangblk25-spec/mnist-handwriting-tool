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Comfortaa" charset="1" panose="00000500000000000000"/>
      <p:regular r:id="rId25"/>
    </p:embeddedFont>
    <p:embeddedFont>
      <p:font typeface="Helvetica World" charset="1" panose="020B0500040000020004"/>
      <p:regular r:id="rId26"/>
    </p:embeddedFont>
    <p:embeddedFont>
      <p:font typeface="Comfortaa Bold" charset="1" panose="00000800000000000000"/>
      <p:regular r:id="rId27"/>
    </p:embeddedFont>
    <p:embeddedFont>
      <p:font typeface="Georgia Pro Condensed" charset="1" panose="02040506050405020303"/>
      <p:regular r:id="rId28"/>
    </p:embeddedFont>
    <p:embeddedFont>
      <p:font typeface="Helvetica World Bold" charset="1" panose="020B08000400000200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1F4B"/>
        </a:solidFill>
      </p:bgPr>
    </p:bg>
    <p:spTree>
      <p:nvGrpSpPr>
        <p:cNvPr id="1" name=""/>
        <p:cNvGrpSpPr/>
        <p:nvPr/>
      </p:nvGrpSpPr>
      <p:grpSpPr>
        <a:xfrm>
          <a:off x="0" y="0"/>
          <a:ext cx="0" cy="0"/>
          <a:chOff x="0" y="0"/>
          <a:chExt cx="0" cy="0"/>
        </a:xfrm>
      </p:grpSpPr>
      <p:grpSp>
        <p:nvGrpSpPr>
          <p:cNvPr name="Group 2" id="2"/>
          <p:cNvGrpSpPr/>
          <p:nvPr/>
        </p:nvGrpSpPr>
        <p:grpSpPr>
          <a:xfrm rot="0">
            <a:off x="0" y="-12700"/>
            <a:ext cx="11201400" cy="10299700"/>
            <a:chOff x="0" y="0"/>
            <a:chExt cx="963348" cy="885799"/>
          </a:xfrm>
        </p:grpSpPr>
        <p:sp>
          <p:nvSpPr>
            <p:cNvPr name="Freeform 3" id="3"/>
            <p:cNvSpPr/>
            <p:nvPr/>
          </p:nvSpPr>
          <p:spPr>
            <a:xfrm flipH="false" flipV="false" rot="0">
              <a:off x="0" y="0"/>
              <a:ext cx="963348" cy="885799"/>
            </a:xfrm>
            <a:custGeom>
              <a:avLst/>
              <a:gdLst/>
              <a:ahLst/>
              <a:cxnLst/>
              <a:rect r="r" b="b" t="t" l="l"/>
              <a:pathLst>
                <a:path h="885799" w="963348">
                  <a:moveTo>
                    <a:pt x="0" y="0"/>
                  </a:moveTo>
                  <a:lnTo>
                    <a:pt x="963348" y="0"/>
                  </a:lnTo>
                  <a:lnTo>
                    <a:pt x="963348" y="885799"/>
                  </a:lnTo>
                  <a:lnTo>
                    <a:pt x="0" y="885799"/>
                  </a:lnTo>
                  <a:close/>
                </a:path>
              </a:pathLst>
            </a:custGeom>
            <a:solidFill>
              <a:srgbClr val="4B2C83"/>
            </a:solidFill>
            <a:ln w="12700">
              <a:solidFill>
                <a:srgbClr val="000000"/>
              </a:solidFill>
            </a:ln>
          </p:spPr>
        </p:sp>
      </p:grpSp>
      <p:grpSp>
        <p:nvGrpSpPr>
          <p:cNvPr name="Group 4" id="4"/>
          <p:cNvGrpSpPr/>
          <p:nvPr/>
        </p:nvGrpSpPr>
        <p:grpSpPr>
          <a:xfrm rot="0">
            <a:off x="11973891" y="698843"/>
            <a:ext cx="5753100" cy="8953500"/>
            <a:chOff x="0" y="0"/>
            <a:chExt cx="814724" cy="1267949"/>
          </a:xfrm>
        </p:grpSpPr>
        <p:sp>
          <p:nvSpPr>
            <p:cNvPr name="Freeform 5" id="5"/>
            <p:cNvSpPr/>
            <p:nvPr/>
          </p:nvSpPr>
          <p:spPr>
            <a:xfrm flipH="false" flipV="false" rot="0">
              <a:off x="0" y="0"/>
              <a:ext cx="814724" cy="1267949"/>
            </a:xfrm>
            <a:custGeom>
              <a:avLst/>
              <a:gdLst/>
              <a:ahLst/>
              <a:cxnLst/>
              <a:rect r="r" b="b" t="t" l="l"/>
              <a:pathLst>
                <a:path h="1267949" w="814724">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l="0" t="-199" r="0" b="-199"/>
              </a:stretch>
            </a:blipFill>
          </p:spPr>
        </p:sp>
      </p:grpSp>
      <p:sp>
        <p:nvSpPr>
          <p:cNvPr name="TextBox 6" id="6"/>
          <p:cNvSpPr txBox="true"/>
          <p:nvPr/>
        </p:nvSpPr>
        <p:spPr>
          <a:xfrm rot="0">
            <a:off x="874385" y="8925243"/>
            <a:ext cx="6886575" cy="618490"/>
          </a:xfrm>
          <a:prstGeom prst="rect">
            <a:avLst/>
          </a:prstGeom>
        </p:spPr>
        <p:txBody>
          <a:bodyPr anchor="t" rtlCol="false" tIns="0" lIns="0" bIns="0" rIns="0">
            <a:spAutoFit/>
          </a:bodyPr>
          <a:lstStyle/>
          <a:p>
            <a:pPr algn="l" marL="0" indent="0" lvl="0">
              <a:lnSpc>
                <a:spcPts val="4940"/>
              </a:lnSpc>
            </a:pPr>
            <a:r>
              <a:rPr lang="en-US" sz="3800" spc="-57">
                <a:solidFill>
                  <a:srgbClr val="FFFFFF"/>
                </a:solidFill>
                <a:latin typeface="Comfortaa"/>
                <a:ea typeface="Comfortaa"/>
                <a:cs typeface="Comfortaa"/>
                <a:sym typeface="Comfortaa"/>
              </a:rPr>
              <a:t>Nguyễn Tất Thắng</a:t>
            </a:r>
          </a:p>
        </p:txBody>
      </p:sp>
      <p:sp>
        <p:nvSpPr>
          <p:cNvPr name="TextBox 7" id="7"/>
          <p:cNvSpPr txBox="true"/>
          <p:nvPr/>
        </p:nvSpPr>
        <p:spPr>
          <a:xfrm rot="0">
            <a:off x="675380" y="908393"/>
            <a:ext cx="9541136" cy="6031680"/>
          </a:xfrm>
          <a:prstGeom prst="rect">
            <a:avLst/>
          </a:prstGeom>
        </p:spPr>
        <p:txBody>
          <a:bodyPr anchor="t" rtlCol="false" tIns="0" lIns="0" bIns="0" rIns="0">
            <a:spAutoFit/>
          </a:bodyPr>
          <a:lstStyle/>
          <a:p>
            <a:pPr algn="l" marL="0" indent="0" lvl="0">
              <a:lnSpc>
                <a:spcPts val="11717"/>
              </a:lnSpc>
            </a:pPr>
            <a:r>
              <a:rPr lang="en-US" sz="11717" spc="-410">
                <a:solidFill>
                  <a:srgbClr val="FFFFFF"/>
                </a:solidFill>
                <a:latin typeface="Comfortaa"/>
                <a:ea typeface="Comfortaa"/>
                <a:cs typeface="Comfortaa"/>
                <a:sym typeface="Comfortaa"/>
              </a:rPr>
              <a:t>Nhận dạng chữ số viết tay và hình học cơ bản</a:t>
            </a:r>
          </a:p>
        </p:txBody>
      </p:sp>
      <p:sp>
        <p:nvSpPr>
          <p:cNvPr name="Freeform 8" id="8"/>
          <p:cNvSpPr/>
          <p:nvPr/>
        </p:nvSpPr>
        <p:spPr>
          <a:xfrm flipH="false" flipV="false" rot="-3117037">
            <a:off x="8762058" y="7952721"/>
            <a:ext cx="2112604" cy="1859092"/>
          </a:xfrm>
          <a:custGeom>
            <a:avLst/>
            <a:gdLst/>
            <a:ahLst/>
            <a:cxnLst/>
            <a:rect r="r" b="b" t="t" l="l"/>
            <a:pathLst>
              <a:path h="1859092" w="2112604">
                <a:moveTo>
                  <a:pt x="0" y="0"/>
                </a:moveTo>
                <a:lnTo>
                  <a:pt x="2112604" y="0"/>
                </a:lnTo>
                <a:lnTo>
                  <a:pt x="2112604" y="1859092"/>
                </a:lnTo>
                <a:lnTo>
                  <a:pt x="0" y="18590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4B2C83"/>
        </a:solidFill>
      </p:bgPr>
    </p:bg>
    <p:spTree>
      <p:nvGrpSpPr>
        <p:cNvPr id="1" name=""/>
        <p:cNvGrpSpPr/>
        <p:nvPr/>
      </p:nvGrpSpPr>
      <p:grpSpPr>
        <a:xfrm>
          <a:off x="0" y="0"/>
          <a:ext cx="0" cy="0"/>
          <a:chOff x="0" y="0"/>
          <a:chExt cx="0" cy="0"/>
        </a:xfrm>
      </p:grpSpPr>
      <p:sp>
        <p:nvSpPr>
          <p:cNvPr name="TextBox 2" id="2"/>
          <p:cNvSpPr txBox="true"/>
          <p:nvPr/>
        </p:nvSpPr>
        <p:spPr>
          <a:xfrm rot="0">
            <a:off x="17259300" y="9220200"/>
            <a:ext cx="152400" cy="190500"/>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Helvetica World"/>
                <a:ea typeface="Helvetica World"/>
                <a:cs typeface="Helvetica World"/>
                <a:sym typeface="Helvetica World"/>
              </a:rPr>
              <a:t>2</a:t>
            </a:r>
          </a:p>
        </p:txBody>
      </p:sp>
      <p:grpSp>
        <p:nvGrpSpPr>
          <p:cNvPr name="Group 3" id="3"/>
          <p:cNvGrpSpPr/>
          <p:nvPr/>
        </p:nvGrpSpPr>
        <p:grpSpPr>
          <a:xfrm rot="0">
            <a:off x="666750" y="666750"/>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0B1F4B"/>
            </a:solidFill>
            <a:ln cap="rnd">
              <a:noFill/>
              <a:prstDash val="solid"/>
              <a:round/>
            </a:ln>
          </p:spPr>
        </p:sp>
        <p:sp>
          <p:nvSpPr>
            <p:cNvPr name="TextBox 5" id="5"/>
            <p:cNvSpPr txBox="true"/>
            <p:nvPr/>
          </p:nvSpPr>
          <p:spPr>
            <a:xfrm>
              <a:off x="0" y="-38100"/>
              <a:ext cx="4465383" cy="2396223"/>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6" id="6"/>
          <p:cNvGrpSpPr/>
          <p:nvPr/>
        </p:nvGrpSpPr>
        <p:grpSpPr>
          <a:xfrm rot="0">
            <a:off x="1800225" y="1562100"/>
            <a:ext cx="13249275" cy="2028909"/>
            <a:chOff x="0" y="0"/>
            <a:chExt cx="17665700" cy="2705212"/>
          </a:xfrm>
        </p:grpSpPr>
        <p:sp>
          <p:nvSpPr>
            <p:cNvPr name="TextBox 7" id="7"/>
            <p:cNvSpPr txBox="true"/>
            <p:nvPr/>
          </p:nvSpPr>
          <p:spPr>
            <a:xfrm rot="0">
              <a:off x="0" y="-95250"/>
              <a:ext cx="17665700" cy="1712383"/>
            </a:xfrm>
            <a:prstGeom prst="rect">
              <a:avLst/>
            </a:prstGeom>
          </p:spPr>
          <p:txBody>
            <a:bodyPr anchor="t" rtlCol="false" tIns="0" lIns="0" bIns="0" rIns="0">
              <a:spAutoFit/>
            </a:bodyPr>
            <a:lstStyle/>
            <a:p>
              <a:pPr algn="l" marL="0" indent="0" lvl="0">
                <a:lnSpc>
                  <a:spcPts val="10400"/>
                </a:lnSpc>
              </a:pPr>
              <a:r>
                <a:rPr lang="en-US" b="true" sz="8000" spc="-240">
                  <a:solidFill>
                    <a:srgbClr val="FFFFFF"/>
                  </a:solidFill>
                  <a:latin typeface="Comfortaa Bold"/>
                  <a:ea typeface="Comfortaa Bold"/>
                  <a:cs typeface="Comfortaa Bold"/>
                  <a:sym typeface="Comfortaa Bold"/>
                </a:rPr>
                <a:t>Mục tiêu dự án</a:t>
              </a:r>
            </a:p>
          </p:txBody>
        </p:sp>
        <p:sp>
          <p:nvSpPr>
            <p:cNvPr name="TextBox 8" id="8"/>
            <p:cNvSpPr txBox="true"/>
            <p:nvPr/>
          </p:nvSpPr>
          <p:spPr>
            <a:xfrm rot="0">
              <a:off x="0" y="2197212"/>
              <a:ext cx="17665700" cy="508000"/>
            </a:xfrm>
            <a:prstGeom prst="rect">
              <a:avLst/>
            </a:prstGeom>
          </p:spPr>
          <p:txBody>
            <a:bodyPr anchor="t" rtlCol="false" tIns="0" lIns="0" bIns="0" rIns="0">
              <a:spAutoFit/>
            </a:bodyPr>
            <a:lstStyle/>
            <a:p>
              <a:pPr algn="l" marL="0" indent="0" lvl="0">
                <a:lnSpc>
                  <a:spcPts val="3000"/>
                </a:lnSpc>
                <a:spcBef>
                  <a:spcPct val="0"/>
                </a:spcBef>
              </a:pPr>
            </a:p>
          </p:txBody>
        </p:sp>
      </p:grpSp>
      <p:grpSp>
        <p:nvGrpSpPr>
          <p:cNvPr name="Group 9" id="9"/>
          <p:cNvGrpSpPr/>
          <p:nvPr/>
        </p:nvGrpSpPr>
        <p:grpSpPr>
          <a:xfrm rot="0">
            <a:off x="1400698" y="4494633"/>
            <a:ext cx="4984996" cy="2934195"/>
            <a:chOff x="0" y="0"/>
            <a:chExt cx="6646661" cy="3912260"/>
          </a:xfrm>
        </p:grpSpPr>
        <p:sp>
          <p:nvSpPr>
            <p:cNvPr name="TextBox 10" id="10"/>
            <p:cNvSpPr txBox="true"/>
            <p:nvPr/>
          </p:nvSpPr>
          <p:spPr>
            <a:xfrm rot="0">
              <a:off x="0" y="-9525"/>
              <a:ext cx="6646661" cy="593725"/>
            </a:xfrm>
            <a:prstGeom prst="rect">
              <a:avLst/>
            </a:prstGeom>
          </p:spPr>
          <p:txBody>
            <a:bodyPr anchor="t" rtlCol="false" tIns="0" lIns="0" bIns="0" rIns="0">
              <a:spAutoFit/>
            </a:bodyPr>
            <a:lstStyle/>
            <a:p>
              <a:pPr algn="l" marL="0" indent="0" lvl="0">
                <a:lnSpc>
                  <a:spcPts val="3471"/>
                </a:lnSpc>
                <a:spcBef>
                  <a:spcPct val="0"/>
                </a:spcBef>
              </a:pPr>
              <a:r>
                <a:rPr lang="en-US" b="true" sz="2892" spc="-43">
                  <a:solidFill>
                    <a:srgbClr val="FFFFFF"/>
                  </a:solidFill>
                  <a:latin typeface="Comfortaa Bold"/>
                  <a:ea typeface="Comfortaa Bold"/>
                  <a:cs typeface="Comfortaa Bold"/>
                  <a:sym typeface="Comfortaa Bold"/>
                </a:rPr>
                <a:t>Tự xây dựng CNN</a:t>
              </a:r>
            </a:p>
          </p:txBody>
        </p:sp>
        <p:sp>
          <p:nvSpPr>
            <p:cNvPr name="TextBox 11" id="11"/>
            <p:cNvSpPr txBox="true"/>
            <p:nvPr/>
          </p:nvSpPr>
          <p:spPr>
            <a:xfrm rot="0">
              <a:off x="0" y="1202978"/>
              <a:ext cx="6646661" cy="2709281"/>
            </a:xfrm>
            <a:prstGeom prst="rect">
              <a:avLst/>
            </a:prstGeom>
          </p:spPr>
          <p:txBody>
            <a:bodyPr anchor="t" rtlCol="false" tIns="0" lIns="0" bIns="0" rIns="0">
              <a:spAutoFit/>
            </a:bodyPr>
            <a:lstStyle/>
            <a:p>
              <a:pPr algn="l" marL="0" indent="0" lvl="0">
                <a:lnSpc>
                  <a:spcPts val="3239"/>
                </a:lnSpc>
              </a:pPr>
              <a:r>
                <a:rPr lang="en-US" sz="2314" spc="-34" strike="noStrike" u="none">
                  <a:solidFill>
                    <a:srgbClr val="FFFFFF"/>
                  </a:solidFill>
                  <a:latin typeface="Comfortaa"/>
                  <a:ea typeface="Comfortaa"/>
                  <a:cs typeface="Comfortaa"/>
                  <a:sym typeface="Comfortaa"/>
                </a:rPr>
                <a:t>Mục tiêu đầu tiên là tự xây dựng một mô hình CNN bằng Python, mang lại hiểu biết sâu sắc về cấu trúc và hoạt động của mạng nơ-ron tích chập.</a:t>
              </a:r>
            </a:p>
          </p:txBody>
        </p:sp>
      </p:grpSp>
      <p:grpSp>
        <p:nvGrpSpPr>
          <p:cNvPr name="Group 12" id="12"/>
          <p:cNvGrpSpPr/>
          <p:nvPr/>
        </p:nvGrpSpPr>
        <p:grpSpPr>
          <a:xfrm rot="0">
            <a:off x="6996838" y="4494633"/>
            <a:ext cx="4639660" cy="2934195"/>
            <a:chOff x="0" y="0"/>
            <a:chExt cx="6186213" cy="3912260"/>
          </a:xfrm>
        </p:grpSpPr>
        <p:sp>
          <p:nvSpPr>
            <p:cNvPr name="TextBox 13" id="13"/>
            <p:cNvSpPr txBox="true"/>
            <p:nvPr/>
          </p:nvSpPr>
          <p:spPr>
            <a:xfrm rot="0">
              <a:off x="0" y="-9525"/>
              <a:ext cx="6186213" cy="593725"/>
            </a:xfrm>
            <a:prstGeom prst="rect">
              <a:avLst/>
            </a:prstGeom>
          </p:spPr>
          <p:txBody>
            <a:bodyPr anchor="t" rtlCol="false" tIns="0" lIns="0" bIns="0" rIns="0">
              <a:spAutoFit/>
            </a:bodyPr>
            <a:lstStyle/>
            <a:p>
              <a:pPr algn="l" marL="0" indent="0" lvl="0">
                <a:lnSpc>
                  <a:spcPts val="3471"/>
                </a:lnSpc>
                <a:spcBef>
                  <a:spcPct val="0"/>
                </a:spcBef>
              </a:pPr>
              <a:r>
                <a:rPr lang="en-US" b="true" sz="2892" spc="-43">
                  <a:solidFill>
                    <a:srgbClr val="FFFFFF"/>
                  </a:solidFill>
                  <a:latin typeface="Comfortaa Bold"/>
                  <a:ea typeface="Comfortaa Bold"/>
                  <a:cs typeface="Comfortaa Bold"/>
                  <a:sym typeface="Comfortaa Bold"/>
                </a:rPr>
                <a:t>Nhận dạng MNIST</a:t>
              </a:r>
            </a:p>
          </p:txBody>
        </p:sp>
        <p:sp>
          <p:nvSpPr>
            <p:cNvPr name="TextBox 14" id="14"/>
            <p:cNvSpPr txBox="true"/>
            <p:nvPr/>
          </p:nvSpPr>
          <p:spPr>
            <a:xfrm rot="0">
              <a:off x="0" y="1202978"/>
              <a:ext cx="6186213" cy="2709281"/>
            </a:xfrm>
            <a:prstGeom prst="rect">
              <a:avLst/>
            </a:prstGeom>
          </p:spPr>
          <p:txBody>
            <a:bodyPr anchor="t" rtlCol="false" tIns="0" lIns="0" bIns="0" rIns="0">
              <a:spAutoFit/>
            </a:bodyPr>
            <a:lstStyle/>
            <a:p>
              <a:pPr algn="l" marL="0" indent="0" lvl="0">
                <a:lnSpc>
                  <a:spcPts val="3239"/>
                </a:lnSpc>
              </a:pPr>
              <a:r>
                <a:rPr lang="en-US" sz="2314" spc="-34" strike="noStrike" u="none">
                  <a:solidFill>
                    <a:srgbClr val="FFFFFF"/>
                  </a:solidFill>
                  <a:latin typeface="Comfortaa"/>
                  <a:ea typeface="Comfortaa"/>
                  <a:cs typeface="Comfortaa"/>
                  <a:sym typeface="Comfortaa"/>
                </a:rPr>
                <a:t>Dự án sẽ bao gồm việc nhận dạng các chữ số từ bộ dữ liệu MNIST, giúp cải thiện khả năng phân loại hình ảnh và hiểu biết về kỹ thuật học máy.</a:t>
              </a:r>
            </a:p>
          </p:txBody>
        </p:sp>
      </p:grpSp>
      <p:grpSp>
        <p:nvGrpSpPr>
          <p:cNvPr name="Group 15" id="15"/>
          <p:cNvGrpSpPr/>
          <p:nvPr/>
        </p:nvGrpSpPr>
        <p:grpSpPr>
          <a:xfrm rot="0">
            <a:off x="12247642" y="4494633"/>
            <a:ext cx="4639660" cy="2934195"/>
            <a:chOff x="0" y="0"/>
            <a:chExt cx="6186213" cy="3912260"/>
          </a:xfrm>
        </p:grpSpPr>
        <p:sp>
          <p:nvSpPr>
            <p:cNvPr name="TextBox 16" id="16"/>
            <p:cNvSpPr txBox="true"/>
            <p:nvPr/>
          </p:nvSpPr>
          <p:spPr>
            <a:xfrm rot="0">
              <a:off x="0" y="-9525"/>
              <a:ext cx="6186213" cy="593725"/>
            </a:xfrm>
            <a:prstGeom prst="rect">
              <a:avLst/>
            </a:prstGeom>
          </p:spPr>
          <p:txBody>
            <a:bodyPr anchor="t" rtlCol="false" tIns="0" lIns="0" bIns="0" rIns="0">
              <a:spAutoFit/>
            </a:bodyPr>
            <a:lstStyle/>
            <a:p>
              <a:pPr algn="l" marL="0" indent="0" lvl="0">
                <a:lnSpc>
                  <a:spcPts val="3471"/>
                </a:lnSpc>
                <a:spcBef>
                  <a:spcPct val="0"/>
                </a:spcBef>
              </a:pPr>
              <a:r>
                <a:rPr lang="en-US" b="true" sz="2892" spc="-43">
                  <a:solidFill>
                    <a:srgbClr val="FFFFFF"/>
                  </a:solidFill>
                  <a:latin typeface="Comfortaa Bold"/>
                  <a:ea typeface="Comfortaa Bold"/>
                  <a:cs typeface="Comfortaa Bold"/>
                  <a:sym typeface="Comfortaa Bold"/>
                </a:rPr>
                <a:t>Nhận dạng hình dạng</a:t>
              </a:r>
            </a:p>
          </p:txBody>
        </p:sp>
        <p:sp>
          <p:nvSpPr>
            <p:cNvPr name="TextBox 17" id="17"/>
            <p:cNvSpPr txBox="true"/>
            <p:nvPr/>
          </p:nvSpPr>
          <p:spPr>
            <a:xfrm rot="0">
              <a:off x="0" y="1202978"/>
              <a:ext cx="6186213" cy="2709281"/>
            </a:xfrm>
            <a:prstGeom prst="rect">
              <a:avLst/>
            </a:prstGeom>
          </p:spPr>
          <p:txBody>
            <a:bodyPr anchor="t" rtlCol="false" tIns="0" lIns="0" bIns="0" rIns="0">
              <a:spAutoFit/>
            </a:bodyPr>
            <a:lstStyle/>
            <a:p>
              <a:pPr algn="l" marL="0" indent="0" lvl="0">
                <a:lnSpc>
                  <a:spcPts val="3239"/>
                </a:lnSpc>
              </a:pPr>
              <a:r>
                <a:rPr lang="en-US" sz="2314" spc="-34" strike="noStrike" u="none">
                  <a:solidFill>
                    <a:srgbClr val="FFFFFF"/>
                  </a:solidFill>
                  <a:latin typeface="Comfortaa"/>
                  <a:ea typeface="Comfortaa"/>
                  <a:cs typeface="Comfortaa"/>
                  <a:sym typeface="Comfortaa"/>
                </a:rPr>
                <a:t>Bên cạnh đó, dự án còn tập trung vào việc nhận dạng các hình tròn và chữ nhật, mở rộng ứng dụng của CNN trong việc phát hiện hình dạng cơ bản.</a:t>
              </a:r>
            </a:p>
          </p:txBody>
        </p:sp>
      </p:grpSp>
      <p:sp>
        <p:nvSpPr>
          <p:cNvPr name="Freeform 18" id="18"/>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3.xml><?xml version="1.0" encoding="utf-8"?>
<p:sld xmlns:p="http://schemas.openxmlformats.org/presentationml/2006/main" xmlns:a="http://schemas.openxmlformats.org/drawingml/2006/main">
  <p:cSld>
    <p:bg>
      <p:bgPr>
        <a:solidFill>
          <a:srgbClr val="0B1F4B"/>
        </a:solidFill>
      </p:bgPr>
    </p:bg>
    <p:spTree>
      <p:nvGrpSpPr>
        <p:cNvPr id="1" name=""/>
        <p:cNvGrpSpPr/>
        <p:nvPr/>
      </p:nvGrpSpPr>
      <p:grpSpPr>
        <a:xfrm>
          <a:off x="0" y="0"/>
          <a:ext cx="0" cy="0"/>
          <a:chOff x="0" y="0"/>
          <a:chExt cx="0" cy="0"/>
        </a:xfrm>
      </p:grpSpPr>
      <p:sp>
        <p:nvSpPr>
          <p:cNvPr name="TextBox 2" id="2"/>
          <p:cNvSpPr txBox="true"/>
          <p:nvPr/>
        </p:nvSpPr>
        <p:spPr>
          <a:xfrm rot="0">
            <a:off x="666750" y="769888"/>
            <a:ext cx="16954500" cy="1079501"/>
          </a:xfrm>
          <a:prstGeom prst="rect">
            <a:avLst/>
          </a:prstGeom>
        </p:spPr>
        <p:txBody>
          <a:bodyPr anchor="t" rtlCol="false" tIns="0" lIns="0" bIns="0" rIns="0">
            <a:spAutoFit/>
          </a:bodyPr>
          <a:lstStyle/>
          <a:p>
            <a:pPr algn="l" marL="0" indent="0" lvl="0">
              <a:lnSpc>
                <a:spcPts val="8000"/>
              </a:lnSpc>
            </a:pPr>
            <a:r>
              <a:rPr lang="en-US" sz="8000">
                <a:solidFill>
                  <a:srgbClr val="FFFFFF"/>
                </a:solidFill>
                <a:latin typeface="Comfortaa"/>
                <a:ea typeface="Comfortaa"/>
                <a:cs typeface="Comfortaa"/>
                <a:sym typeface="Comfortaa"/>
              </a:rPr>
              <a:t>Một số kiến thức</a:t>
            </a:r>
          </a:p>
        </p:txBody>
      </p:sp>
      <p:grpSp>
        <p:nvGrpSpPr>
          <p:cNvPr name="Group 3" id="3"/>
          <p:cNvGrpSpPr/>
          <p:nvPr/>
        </p:nvGrpSpPr>
        <p:grpSpPr>
          <a:xfrm rot="0">
            <a:off x="2105025" y="2463165"/>
            <a:ext cx="6886575" cy="1742123"/>
            <a:chOff x="0" y="0"/>
            <a:chExt cx="9182100" cy="2322830"/>
          </a:xfrm>
        </p:grpSpPr>
        <p:sp>
          <p:nvSpPr>
            <p:cNvPr name="TextBox 4" id="4"/>
            <p:cNvSpPr txBox="true"/>
            <p:nvPr/>
          </p:nvSpPr>
          <p:spPr>
            <a:xfrm rot="0">
              <a:off x="0" y="-9525"/>
              <a:ext cx="9182100" cy="619125"/>
            </a:xfrm>
            <a:prstGeom prst="rect">
              <a:avLst/>
            </a:prstGeom>
          </p:spPr>
          <p:txBody>
            <a:bodyPr anchor="t" rtlCol="false" tIns="0" lIns="0" bIns="0" rIns="0">
              <a:spAutoFit/>
            </a:bodyPr>
            <a:lstStyle/>
            <a:p>
              <a:pPr algn="l" marL="0" indent="0" lvl="0">
                <a:lnSpc>
                  <a:spcPts val="3600"/>
                </a:lnSpc>
                <a:spcBef>
                  <a:spcPct val="0"/>
                </a:spcBef>
              </a:pPr>
              <a:r>
                <a:rPr lang="en-US" b="true" sz="3000" spc="-44" strike="noStrike" u="none">
                  <a:solidFill>
                    <a:srgbClr val="FFFFFF"/>
                  </a:solidFill>
                  <a:latin typeface="Comfortaa Bold"/>
                  <a:ea typeface="Comfortaa Bold"/>
                  <a:cs typeface="Comfortaa Bold"/>
                  <a:sym typeface="Comfortaa Bold"/>
                </a:rPr>
                <a:t>Convolution</a:t>
              </a:r>
            </a:p>
          </p:txBody>
        </p:sp>
        <p:sp>
          <p:nvSpPr>
            <p:cNvPr name="TextBox 5" id="5"/>
            <p:cNvSpPr txBox="true"/>
            <p:nvPr/>
          </p:nvSpPr>
          <p:spPr>
            <a:xfrm rot="0">
              <a:off x="0" y="1244389"/>
              <a:ext cx="9182100" cy="1078442"/>
            </a:xfrm>
            <a:prstGeom prst="rect">
              <a:avLst/>
            </a:prstGeom>
          </p:spPr>
          <p:txBody>
            <a:bodyPr anchor="t" rtlCol="false" tIns="0" lIns="0" bIns="0" rIns="0">
              <a:spAutoFit/>
            </a:bodyPr>
            <a:lstStyle/>
            <a:p>
              <a:pPr algn="l" marL="0" indent="0" lvl="0">
                <a:lnSpc>
                  <a:spcPts val="3249"/>
                </a:lnSpc>
                <a:spcBef>
                  <a:spcPct val="0"/>
                </a:spcBef>
              </a:pPr>
              <a:r>
                <a:rPr lang="en-US" sz="2499" spc="-37" strike="noStrike" u="none">
                  <a:solidFill>
                    <a:srgbClr val="FFFFFF"/>
                  </a:solidFill>
                  <a:latin typeface="Comfortaa"/>
                  <a:ea typeface="Comfortaa"/>
                  <a:cs typeface="Comfortaa"/>
                  <a:sym typeface="Comfortaa"/>
                </a:rPr>
                <a:t>Chức năng chính của lớp này là trích xuất đặc trưng.</a:t>
              </a:r>
            </a:p>
          </p:txBody>
        </p:sp>
      </p:grpSp>
      <p:grpSp>
        <p:nvGrpSpPr>
          <p:cNvPr name="Group 6" id="6"/>
          <p:cNvGrpSpPr/>
          <p:nvPr/>
        </p:nvGrpSpPr>
        <p:grpSpPr>
          <a:xfrm rot="0">
            <a:off x="2105025" y="7827169"/>
            <a:ext cx="6886575" cy="1788319"/>
            <a:chOff x="0" y="0"/>
            <a:chExt cx="9182100" cy="2384425"/>
          </a:xfrm>
        </p:grpSpPr>
        <p:sp>
          <p:nvSpPr>
            <p:cNvPr name="TextBox 7" id="7"/>
            <p:cNvSpPr txBox="true"/>
            <p:nvPr/>
          </p:nvSpPr>
          <p:spPr>
            <a:xfrm rot="0">
              <a:off x="0" y="-9525"/>
              <a:ext cx="9182100" cy="619125"/>
            </a:xfrm>
            <a:prstGeom prst="rect">
              <a:avLst/>
            </a:prstGeom>
          </p:spPr>
          <p:txBody>
            <a:bodyPr anchor="t" rtlCol="false" tIns="0" lIns="0" bIns="0" rIns="0">
              <a:spAutoFit/>
            </a:bodyPr>
            <a:lstStyle/>
            <a:p>
              <a:pPr algn="l" marL="0" indent="0" lvl="0">
                <a:lnSpc>
                  <a:spcPts val="3600"/>
                </a:lnSpc>
                <a:spcBef>
                  <a:spcPct val="0"/>
                </a:spcBef>
              </a:pPr>
              <a:r>
                <a:rPr lang="en-US" b="true" sz="3000" spc="-44" strike="noStrike" u="none">
                  <a:solidFill>
                    <a:srgbClr val="FFFFFF"/>
                  </a:solidFill>
                  <a:latin typeface="Comfortaa Bold"/>
                  <a:ea typeface="Comfortaa Bold"/>
                  <a:cs typeface="Comfortaa Bold"/>
                  <a:sym typeface="Comfortaa Bold"/>
                </a:rPr>
                <a:t>Flatten</a:t>
              </a:r>
            </a:p>
          </p:txBody>
        </p:sp>
        <p:sp>
          <p:nvSpPr>
            <p:cNvPr name="TextBox 8" id="8"/>
            <p:cNvSpPr txBox="true"/>
            <p:nvPr/>
          </p:nvSpPr>
          <p:spPr>
            <a:xfrm rot="0">
              <a:off x="0" y="1305983"/>
              <a:ext cx="9182100" cy="1078442"/>
            </a:xfrm>
            <a:prstGeom prst="rect">
              <a:avLst/>
            </a:prstGeom>
          </p:spPr>
          <p:txBody>
            <a:bodyPr anchor="t" rtlCol="false" tIns="0" lIns="0" bIns="0" rIns="0">
              <a:spAutoFit/>
            </a:bodyPr>
            <a:lstStyle/>
            <a:p>
              <a:pPr algn="l" marL="0" indent="0" lvl="0">
                <a:lnSpc>
                  <a:spcPts val="3249"/>
                </a:lnSpc>
                <a:spcBef>
                  <a:spcPct val="0"/>
                </a:spcBef>
              </a:pPr>
              <a:r>
                <a:rPr lang="en-US" sz="2499" spc="-37" strike="noStrike" u="none">
                  <a:solidFill>
                    <a:srgbClr val="FFFFFF"/>
                  </a:solidFill>
                  <a:latin typeface="Comfortaa"/>
                  <a:ea typeface="Comfortaa"/>
                  <a:cs typeface="Comfortaa"/>
                  <a:sym typeface="Comfortaa"/>
                </a:rPr>
                <a:t>Chuyển đổi đầu ra của lớp trước thành vector một chiều.</a:t>
              </a:r>
            </a:p>
          </p:txBody>
        </p:sp>
      </p:grpSp>
      <p:grpSp>
        <p:nvGrpSpPr>
          <p:cNvPr name="Group 9" id="9"/>
          <p:cNvGrpSpPr/>
          <p:nvPr/>
        </p:nvGrpSpPr>
        <p:grpSpPr>
          <a:xfrm rot="0">
            <a:off x="10734675" y="5149215"/>
            <a:ext cx="6886575" cy="1742123"/>
            <a:chOff x="0" y="0"/>
            <a:chExt cx="9182100" cy="2322830"/>
          </a:xfrm>
        </p:grpSpPr>
        <p:sp>
          <p:nvSpPr>
            <p:cNvPr name="TextBox 10" id="10"/>
            <p:cNvSpPr txBox="true"/>
            <p:nvPr/>
          </p:nvSpPr>
          <p:spPr>
            <a:xfrm rot="0">
              <a:off x="0" y="-9525"/>
              <a:ext cx="9182100" cy="619125"/>
            </a:xfrm>
            <a:prstGeom prst="rect">
              <a:avLst/>
            </a:prstGeom>
          </p:spPr>
          <p:txBody>
            <a:bodyPr anchor="t" rtlCol="false" tIns="0" lIns="0" bIns="0" rIns="0">
              <a:spAutoFit/>
            </a:bodyPr>
            <a:lstStyle/>
            <a:p>
              <a:pPr algn="l" marL="0" indent="0" lvl="0">
                <a:lnSpc>
                  <a:spcPts val="3600"/>
                </a:lnSpc>
                <a:spcBef>
                  <a:spcPct val="0"/>
                </a:spcBef>
              </a:pPr>
              <a:r>
                <a:rPr lang="en-US" b="true" sz="3000" spc="-44" strike="noStrike" u="none">
                  <a:solidFill>
                    <a:srgbClr val="FFFFFF"/>
                  </a:solidFill>
                  <a:latin typeface="Comfortaa Bold"/>
                  <a:ea typeface="Comfortaa Bold"/>
                  <a:cs typeface="Comfortaa Bold"/>
                  <a:sym typeface="Comfortaa Bold"/>
                </a:rPr>
                <a:t>Dense</a:t>
              </a:r>
            </a:p>
          </p:txBody>
        </p:sp>
        <p:sp>
          <p:nvSpPr>
            <p:cNvPr name="TextBox 11" id="11"/>
            <p:cNvSpPr txBox="true"/>
            <p:nvPr/>
          </p:nvSpPr>
          <p:spPr>
            <a:xfrm rot="0">
              <a:off x="0" y="1244389"/>
              <a:ext cx="9182100" cy="1078442"/>
            </a:xfrm>
            <a:prstGeom prst="rect">
              <a:avLst/>
            </a:prstGeom>
          </p:spPr>
          <p:txBody>
            <a:bodyPr anchor="t" rtlCol="false" tIns="0" lIns="0" bIns="0" rIns="0">
              <a:spAutoFit/>
            </a:bodyPr>
            <a:lstStyle/>
            <a:p>
              <a:pPr algn="l" marL="0" indent="0" lvl="0">
                <a:lnSpc>
                  <a:spcPts val="3249"/>
                </a:lnSpc>
                <a:spcBef>
                  <a:spcPct val="0"/>
                </a:spcBef>
              </a:pPr>
              <a:r>
                <a:rPr lang="en-US" sz="2499" spc="-37" strike="noStrike" u="none">
                  <a:solidFill>
                    <a:srgbClr val="FFFFFF"/>
                  </a:solidFill>
                  <a:latin typeface="Comfortaa"/>
                  <a:ea typeface="Comfortaa"/>
                  <a:cs typeface="Comfortaa"/>
                  <a:sym typeface="Comfortaa"/>
                </a:rPr>
                <a:t>Kết nối tất cả các neuron trong lớp trước với lớp này.</a:t>
              </a:r>
            </a:p>
          </p:txBody>
        </p:sp>
      </p:grpSp>
      <p:grpSp>
        <p:nvGrpSpPr>
          <p:cNvPr name="Group 12" id="12"/>
          <p:cNvGrpSpPr/>
          <p:nvPr/>
        </p:nvGrpSpPr>
        <p:grpSpPr>
          <a:xfrm rot="0">
            <a:off x="2105025" y="5141119"/>
            <a:ext cx="6886575" cy="1788319"/>
            <a:chOff x="0" y="0"/>
            <a:chExt cx="9182100" cy="2384425"/>
          </a:xfrm>
        </p:grpSpPr>
        <p:sp>
          <p:nvSpPr>
            <p:cNvPr name="TextBox 13" id="13"/>
            <p:cNvSpPr txBox="true"/>
            <p:nvPr/>
          </p:nvSpPr>
          <p:spPr>
            <a:xfrm rot="0">
              <a:off x="0" y="-9525"/>
              <a:ext cx="9182100" cy="619125"/>
            </a:xfrm>
            <a:prstGeom prst="rect">
              <a:avLst/>
            </a:prstGeom>
          </p:spPr>
          <p:txBody>
            <a:bodyPr anchor="t" rtlCol="false" tIns="0" lIns="0" bIns="0" rIns="0">
              <a:spAutoFit/>
            </a:bodyPr>
            <a:lstStyle/>
            <a:p>
              <a:pPr algn="l" marL="0" indent="0" lvl="0">
                <a:lnSpc>
                  <a:spcPts val="3600"/>
                </a:lnSpc>
                <a:spcBef>
                  <a:spcPct val="0"/>
                </a:spcBef>
              </a:pPr>
              <a:r>
                <a:rPr lang="en-US" b="true" sz="3000" spc="-44" strike="noStrike" u="none">
                  <a:solidFill>
                    <a:srgbClr val="FFFFFF"/>
                  </a:solidFill>
                  <a:latin typeface="Comfortaa Bold"/>
                  <a:ea typeface="Comfortaa Bold"/>
                  <a:cs typeface="Comfortaa Bold"/>
                  <a:sym typeface="Comfortaa Bold"/>
                </a:rPr>
                <a:t>Pooling</a:t>
              </a:r>
            </a:p>
          </p:txBody>
        </p:sp>
        <p:sp>
          <p:nvSpPr>
            <p:cNvPr name="TextBox 14" id="14"/>
            <p:cNvSpPr txBox="true"/>
            <p:nvPr/>
          </p:nvSpPr>
          <p:spPr>
            <a:xfrm rot="0">
              <a:off x="0" y="1305983"/>
              <a:ext cx="9182100" cy="1078442"/>
            </a:xfrm>
            <a:prstGeom prst="rect">
              <a:avLst/>
            </a:prstGeom>
          </p:spPr>
          <p:txBody>
            <a:bodyPr anchor="t" rtlCol="false" tIns="0" lIns="0" bIns="0" rIns="0">
              <a:spAutoFit/>
            </a:bodyPr>
            <a:lstStyle/>
            <a:p>
              <a:pPr algn="l" marL="0" indent="0" lvl="0">
                <a:lnSpc>
                  <a:spcPts val="3249"/>
                </a:lnSpc>
                <a:spcBef>
                  <a:spcPct val="0"/>
                </a:spcBef>
              </a:pPr>
              <a:r>
                <a:rPr lang="en-US" sz="2499" spc="-37" strike="noStrike" u="none">
                  <a:solidFill>
                    <a:srgbClr val="FFFFFF"/>
                  </a:solidFill>
                  <a:latin typeface="Comfortaa"/>
                  <a:ea typeface="Comfortaa"/>
                  <a:cs typeface="Comfortaa"/>
                  <a:sym typeface="Comfortaa"/>
                </a:rPr>
                <a:t>Giảm kích thước đầu vào và giữ lại thông tin quan trọng.</a:t>
              </a:r>
            </a:p>
          </p:txBody>
        </p:sp>
      </p:grpSp>
      <p:sp>
        <p:nvSpPr>
          <p:cNvPr name="TextBox 15" id="15"/>
          <p:cNvSpPr txBox="true"/>
          <p:nvPr/>
        </p:nvSpPr>
        <p:spPr>
          <a:xfrm rot="0">
            <a:off x="666750" y="2447925"/>
            <a:ext cx="864987" cy="428625"/>
          </a:xfrm>
          <a:prstGeom prst="rect">
            <a:avLst/>
          </a:prstGeom>
        </p:spPr>
        <p:txBody>
          <a:bodyPr anchor="t" rtlCol="false" tIns="0" lIns="0" bIns="0" rIns="0">
            <a:spAutoFit/>
          </a:bodyPr>
          <a:lstStyle/>
          <a:p>
            <a:pPr algn="l" marL="0" indent="0" lvl="0">
              <a:lnSpc>
                <a:spcPts val="3359"/>
              </a:lnSpc>
              <a:spcBef>
                <a:spcPct val="0"/>
              </a:spcBef>
            </a:pPr>
            <a:r>
              <a:rPr lang="en-US" sz="2799" u="none">
                <a:solidFill>
                  <a:srgbClr val="FFFFFF"/>
                </a:solidFill>
                <a:latin typeface="Georgia Pro Condensed"/>
                <a:ea typeface="Georgia Pro Condensed"/>
                <a:cs typeface="Georgia Pro Condensed"/>
                <a:sym typeface="Georgia Pro Condensed"/>
              </a:rPr>
              <a:t>01</a:t>
            </a:r>
          </a:p>
        </p:txBody>
      </p:sp>
      <p:sp>
        <p:nvSpPr>
          <p:cNvPr name="TextBox 16" id="16"/>
          <p:cNvSpPr txBox="true"/>
          <p:nvPr/>
        </p:nvSpPr>
        <p:spPr>
          <a:xfrm rot="0">
            <a:off x="666750" y="7825740"/>
            <a:ext cx="864987" cy="428625"/>
          </a:xfrm>
          <a:prstGeom prst="rect">
            <a:avLst/>
          </a:prstGeom>
        </p:spPr>
        <p:txBody>
          <a:bodyPr anchor="t" rtlCol="false" tIns="0" lIns="0" bIns="0" rIns="0">
            <a:spAutoFit/>
          </a:bodyPr>
          <a:lstStyle/>
          <a:p>
            <a:pPr algn="l" marL="0" indent="0" lvl="0">
              <a:lnSpc>
                <a:spcPts val="3359"/>
              </a:lnSpc>
              <a:spcBef>
                <a:spcPct val="0"/>
              </a:spcBef>
            </a:pPr>
            <a:r>
              <a:rPr lang="en-US" sz="2799" u="none">
                <a:solidFill>
                  <a:srgbClr val="FFFFFF"/>
                </a:solidFill>
                <a:latin typeface="Georgia Pro Condensed"/>
                <a:ea typeface="Georgia Pro Condensed"/>
                <a:cs typeface="Georgia Pro Condensed"/>
                <a:sym typeface="Georgia Pro Condensed"/>
              </a:rPr>
              <a:t>03</a:t>
            </a:r>
          </a:p>
        </p:txBody>
      </p:sp>
      <p:sp>
        <p:nvSpPr>
          <p:cNvPr name="TextBox 17" id="17"/>
          <p:cNvSpPr txBox="true"/>
          <p:nvPr/>
        </p:nvSpPr>
        <p:spPr>
          <a:xfrm rot="0">
            <a:off x="9296400" y="2453640"/>
            <a:ext cx="864987" cy="428625"/>
          </a:xfrm>
          <a:prstGeom prst="rect">
            <a:avLst/>
          </a:prstGeom>
        </p:spPr>
        <p:txBody>
          <a:bodyPr anchor="t" rtlCol="false" tIns="0" lIns="0" bIns="0" rIns="0">
            <a:spAutoFit/>
          </a:bodyPr>
          <a:lstStyle/>
          <a:p>
            <a:pPr algn="l" marL="0" indent="0" lvl="0">
              <a:lnSpc>
                <a:spcPts val="3359"/>
              </a:lnSpc>
              <a:spcBef>
                <a:spcPct val="0"/>
              </a:spcBef>
            </a:pPr>
            <a:r>
              <a:rPr lang="en-US" sz="2799" u="none">
                <a:solidFill>
                  <a:srgbClr val="FFFFFF"/>
                </a:solidFill>
                <a:latin typeface="Georgia Pro Condensed"/>
                <a:ea typeface="Georgia Pro Condensed"/>
                <a:cs typeface="Georgia Pro Condensed"/>
                <a:sym typeface="Georgia Pro Condensed"/>
              </a:rPr>
              <a:t>04</a:t>
            </a:r>
          </a:p>
        </p:txBody>
      </p:sp>
      <p:sp>
        <p:nvSpPr>
          <p:cNvPr name="TextBox 18" id="18"/>
          <p:cNvSpPr txBox="true"/>
          <p:nvPr/>
        </p:nvSpPr>
        <p:spPr>
          <a:xfrm rot="0">
            <a:off x="9296400" y="5139690"/>
            <a:ext cx="864987" cy="428625"/>
          </a:xfrm>
          <a:prstGeom prst="rect">
            <a:avLst/>
          </a:prstGeom>
        </p:spPr>
        <p:txBody>
          <a:bodyPr anchor="t" rtlCol="false" tIns="0" lIns="0" bIns="0" rIns="0">
            <a:spAutoFit/>
          </a:bodyPr>
          <a:lstStyle/>
          <a:p>
            <a:pPr algn="l" marL="0" indent="0" lvl="0">
              <a:lnSpc>
                <a:spcPts val="3359"/>
              </a:lnSpc>
              <a:spcBef>
                <a:spcPct val="0"/>
              </a:spcBef>
            </a:pPr>
            <a:r>
              <a:rPr lang="en-US" sz="2799" u="none">
                <a:solidFill>
                  <a:srgbClr val="FFFFFF"/>
                </a:solidFill>
                <a:latin typeface="Georgia Pro Condensed"/>
                <a:ea typeface="Georgia Pro Condensed"/>
                <a:cs typeface="Georgia Pro Condensed"/>
                <a:sym typeface="Georgia Pro Condensed"/>
              </a:rPr>
              <a:t>05</a:t>
            </a:r>
          </a:p>
        </p:txBody>
      </p:sp>
      <p:sp>
        <p:nvSpPr>
          <p:cNvPr name="TextBox 19" id="19"/>
          <p:cNvSpPr txBox="true"/>
          <p:nvPr/>
        </p:nvSpPr>
        <p:spPr>
          <a:xfrm rot="0">
            <a:off x="666750" y="5133975"/>
            <a:ext cx="864987" cy="428625"/>
          </a:xfrm>
          <a:prstGeom prst="rect">
            <a:avLst/>
          </a:prstGeom>
        </p:spPr>
        <p:txBody>
          <a:bodyPr anchor="t" rtlCol="false" tIns="0" lIns="0" bIns="0" rIns="0">
            <a:spAutoFit/>
          </a:bodyPr>
          <a:lstStyle/>
          <a:p>
            <a:pPr algn="l" marL="0" indent="0" lvl="0">
              <a:lnSpc>
                <a:spcPts val="3359"/>
              </a:lnSpc>
              <a:spcBef>
                <a:spcPct val="0"/>
              </a:spcBef>
            </a:pPr>
            <a:r>
              <a:rPr lang="en-US" sz="2799" u="none">
                <a:solidFill>
                  <a:srgbClr val="FFFFFF"/>
                </a:solidFill>
                <a:latin typeface="Georgia Pro Condensed"/>
                <a:ea typeface="Georgia Pro Condensed"/>
                <a:cs typeface="Georgia Pro Condensed"/>
                <a:sym typeface="Georgia Pro Condensed"/>
              </a:rPr>
              <a:t>02</a:t>
            </a:r>
          </a:p>
        </p:txBody>
      </p:sp>
      <p:grpSp>
        <p:nvGrpSpPr>
          <p:cNvPr name="Group 20" id="20"/>
          <p:cNvGrpSpPr/>
          <p:nvPr/>
        </p:nvGrpSpPr>
        <p:grpSpPr>
          <a:xfrm rot="0">
            <a:off x="10734675" y="2463165"/>
            <a:ext cx="6886575" cy="1742123"/>
            <a:chOff x="0" y="0"/>
            <a:chExt cx="9182100" cy="2322830"/>
          </a:xfrm>
        </p:grpSpPr>
        <p:sp>
          <p:nvSpPr>
            <p:cNvPr name="TextBox 21" id="21"/>
            <p:cNvSpPr txBox="true"/>
            <p:nvPr/>
          </p:nvSpPr>
          <p:spPr>
            <a:xfrm rot="0">
              <a:off x="0" y="-9525"/>
              <a:ext cx="9182100" cy="619125"/>
            </a:xfrm>
            <a:prstGeom prst="rect">
              <a:avLst/>
            </a:prstGeom>
          </p:spPr>
          <p:txBody>
            <a:bodyPr anchor="t" rtlCol="false" tIns="0" lIns="0" bIns="0" rIns="0">
              <a:spAutoFit/>
            </a:bodyPr>
            <a:lstStyle/>
            <a:p>
              <a:pPr algn="l" marL="0" indent="0" lvl="0">
                <a:lnSpc>
                  <a:spcPts val="3600"/>
                </a:lnSpc>
                <a:spcBef>
                  <a:spcPct val="0"/>
                </a:spcBef>
              </a:pPr>
              <a:r>
                <a:rPr lang="en-US" b="true" sz="3000" spc="-44" strike="noStrike" u="none">
                  <a:solidFill>
                    <a:srgbClr val="FFFFFF"/>
                  </a:solidFill>
                  <a:latin typeface="Comfortaa Bold"/>
                  <a:ea typeface="Comfortaa Bold"/>
                  <a:cs typeface="Comfortaa Bold"/>
                  <a:sym typeface="Comfortaa Bold"/>
                </a:rPr>
                <a:t>Activation</a:t>
              </a:r>
            </a:p>
          </p:txBody>
        </p:sp>
        <p:sp>
          <p:nvSpPr>
            <p:cNvPr name="TextBox 22" id="22"/>
            <p:cNvSpPr txBox="true"/>
            <p:nvPr/>
          </p:nvSpPr>
          <p:spPr>
            <a:xfrm rot="0">
              <a:off x="0" y="1244389"/>
              <a:ext cx="9182100" cy="1078442"/>
            </a:xfrm>
            <a:prstGeom prst="rect">
              <a:avLst/>
            </a:prstGeom>
          </p:spPr>
          <p:txBody>
            <a:bodyPr anchor="t" rtlCol="false" tIns="0" lIns="0" bIns="0" rIns="0">
              <a:spAutoFit/>
            </a:bodyPr>
            <a:lstStyle/>
            <a:p>
              <a:pPr algn="l" marL="0" indent="0" lvl="0">
                <a:lnSpc>
                  <a:spcPts val="3249"/>
                </a:lnSpc>
                <a:spcBef>
                  <a:spcPct val="0"/>
                </a:spcBef>
              </a:pPr>
              <a:r>
                <a:rPr lang="en-US" sz="2499" spc="-37" strike="noStrike" u="none">
                  <a:solidFill>
                    <a:srgbClr val="FFFFFF"/>
                  </a:solidFill>
                  <a:latin typeface="Comfortaa"/>
                  <a:ea typeface="Comfortaa"/>
                  <a:cs typeface="Comfortaa"/>
                  <a:sym typeface="Comfortaa"/>
                </a:rPr>
                <a:t>Hàm kích hoạt giúp tăng cường phi tuyến tính cho mô hình.</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4B2C83"/>
        </a:solidFill>
      </p:bgPr>
    </p:bg>
    <p:spTree>
      <p:nvGrpSpPr>
        <p:cNvPr id="1" name=""/>
        <p:cNvGrpSpPr/>
        <p:nvPr/>
      </p:nvGrpSpPr>
      <p:grpSpPr>
        <a:xfrm>
          <a:off x="0" y="0"/>
          <a:ext cx="0" cy="0"/>
          <a:chOff x="0" y="0"/>
          <a:chExt cx="0" cy="0"/>
        </a:xfrm>
      </p:grpSpPr>
      <p:grpSp>
        <p:nvGrpSpPr>
          <p:cNvPr name="Group 2" id="2"/>
          <p:cNvGrpSpPr/>
          <p:nvPr/>
        </p:nvGrpSpPr>
        <p:grpSpPr>
          <a:xfrm rot="0">
            <a:off x="0" y="0"/>
            <a:ext cx="7858125" cy="10287000"/>
            <a:chOff x="0" y="0"/>
            <a:chExt cx="2069630" cy="2709333"/>
          </a:xfrm>
        </p:grpSpPr>
        <p:sp>
          <p:nvSpPr>
            <p:cNvPr name="Freeform 3" id="3"/>
            <p:cNvSpPr/>
            <p:nvPr/>
          </p:nvSpPr>
          <p:spPr>
            <a:xfrm flipH="false" flipV="false" rot="0">
              <a:off x="0" y="0"/>
              <a:ext cx="2069630" cy="2709333"/>
            </a:xfrm>
            <a:custGeom>
              <a:avLst/>
              <a:gdLst/>
              <a:ahLst/>
              <a:cxnLst/>
              <a:rect r="r" b="b" t="t" l="l"/>
              <a:pathLst>
                <a:path h="2709333" w="2069630">
                  <a:moveTo>
                    <a:pt x="0" y="0"/>
                  </a:moveTo>
                  <a:lnTo>
                    <a:pt x="2069630" y="0"/>
                  </a:lnTo>
                  <a:lnTo>
                    <a:pt x="2069630" y="2709333"/>
                  </a:lnTo>
                  <a:lnTo>
                    <a:pt x="0" y="2709333"/>
                  </a:lnTo>
                  <a:close/>
                </a:path>
              </a:pathLst>
            </a:custGeom>
            <a:solidFill>
              <a:srgbClr val="0B1F4B"/>
            </a:solidFill>
            <a:ln cap="sq">
              <a:noFill/>
              <a:prstDash val="solid"/>
              <a:miter/>
            </a:ln>
          </p:spPr>
        </p:sp>
        <p:sp>
          <p:nvSpPr>
            <p:cNvPr name="TextBox 4" id="4"/>
            <p:cNvSpPr txBox="true"/>
            <p:nvPr/>
          </p:nvSpPr>
          <p:spPr>
            <a:xfrm>
              <a:off x="0" y="-38100"/>
              <a:ext cx="2069630" cy="2747433"/>
            </a:xfrm>
            <a:prstGeom prst="rect">
              <a:avLst/>
            </a:prstGeom>
          </p:spPr>
          <p:txBody>
            <a:bodyPr anchor="ctr" rtlCol="false" tIns="50800" lIns="50800" bIns="50800" rIns="50800"/>
            <a:lstStyle/>
            <a:p>
              <a:pPr algn="ctr">
                <a:lnSpc>
                  <a:spcPts val="3359"/>
                </a:lnSpc>
              </a:pPr>
            </a:p>
          </p:txBody>
        </p:sp>
      </p:grpSp>
      <p:sp>
        <p:nvSpPr>
          <p:cNvPr name="TextBox 5" id="5"/>
          <p:cNvSpPr txBox="true"/>
          <p:nvPr/>
        </p:nvSpPr>
        <p:spPr>
          <a:xfrm rot="0">
            <a:off x="666750" y="800100"/>
            <a:ext cx="6641663" cy="2089151"/>
          </a:xfrm>
          <a:prstGeom prst="rect">
            <a:avLst/>
          </a:prstGeom>
        </p:spPr>
        <p:txBody>
          <a:bodyPr anchor="t" rtlCol="false" tIns="0" lIns="0" bIns="0" rIns="0">
            <a:spAutoFit/>
          </a:bodyPr>
          <a:lstStyle/>
          <a:p>
            <a:pPr algn="l" marL="0" indent="0" lvl="0">
              <a:lnSpc>
                <a:spcPts val="8000"/>
              </a:lnSpc>
            </a:pPr>
            <a:r>
              <a:rPr lang="en-US" sz="8000">
                <a:solidFill>
                  <a:srgbClr val="FFFFFF"/>
                </a:solidFill>
                <a:latin typeface="Comfortaa"/>
                <a:ea typeface="Comfortaa"/>
                <a:cs typeface="Comfortaa"/>
                <a:sym typeface="Comfortaa"/>
              </a:rPr>
              <a:t>Tại sao CNN hiệu quả</a:t>
            </a:r>
          </a:p>
        </p:txBody>
      </p:sp>
      <p:sp>
        <p:nvSpPr>
          <p:cNvPr name="TextBox 6" id="6"/>
          <p:cNvSpPr txBox="true"/>
          <p:nvPr/>
        </p:nvSpPr>
        <p:spPr>
          <a:xfrm rot="0">
            <a:off x="8863907" y="657225"/>
            <a:ext cx="864987" cy="428625"/>
          </a:xfrm>
          <a:prstGeom prst="rect">
            <a:avLst/>
          </a:prstGeom>
        </p:spPr>
        <p:txBody>
          <a:bodyPr anchor="t" rtlCol="false" tIns="0" lIns="0" bIns="0" rIns="0">
            <a:spAutoFit/>
          </a:bodyPr>
          <a:lstStyle/>
          <a:p>
            <a:pPr algn="l" marL="0" indent="0" lvl="0">
              <a:lnSpc>
                <a:spcPts val="3359"/>
              </a:lnSpc>
              <a:spcBef>
                <a:spcPct val="0"/>
              </a:spcBef>
            </a:pPr>
            <a:r>
              <a:rPr lang="en-US" sz="2799" u="none">
                <a:solidFill>
                  <a:srgbClr val="FFFFFF"/>
                </a:solidFill>
                <a:latin typeface="Georgia Pro Condensed"/>
                <a:ea typeface="Georgia Pro Condensed"/>
                <a:cs typeface="Georgia Pro Condensed"/>
                <a:sym typeface="Georgia Pro Condensed"/>
              </a:rPr>
              <a:t>01</a:t>
            </a:r>
          </a:p>
        </p:txBody>
      </p:sp>
      <p:sp>
        <p:nvSpPr>
          <p:cNvPr name="TextBox 7" id="7"/>
          <p:cNvSpPr txBox="true"/>
          <p:nvPr/>
        </p:nvSpPr>
        <p:spPr>
          <a:xfrm rot="0">
            <a:off x="8863907" y="5133975"/>
            <a:ext cx="864987" cy="428625"/>
          </a:xfrm>
          <a:prstGeom prst="rect">
            <a:avLst/>
          </a:prstGeom>
        </p:spPr>
        <p:txBody>
          <a:bodyPr anchor="t" rtlCol="false" tIns="0" lIns="0" bIns="0" rIns="0">
            <a:spAutoFit/>
          </a:bodyPr>
          <a:lstStyle/>
          <a:p>
            <a:pPr algn="l" marL="0" indent="0" lvl="0">
              <a:lnSpc>
                <a:spcPts val="3359"/>
              </a:lnSpc>
              <a:spcBef>
                <a:spcPct val="0"/>
              </a:spcBef>
            </a:pPr>
            <a:r>
              <a:rPr lang="en-US" sz="2799" u="none">
                <a:solidFill>
                  <a:srgbClr val="FFFFFF"/>
                </a:solidFill>
                <a:latin typeface="Georgia Pro Condensed"/>
                <a:ea typeface="Georgia Pro Condensed"/>
                <a:cs typeface="Georgia Pro Condensed"/>
                <a:sym typeface="Georgia Pro Condensed"/>
              </a:rPr>
              <a:t>02</a:t>
            </a:r>
          </a:p>
        </p:txBody>
      </p:sp>
      <p:sp>
        <p:nvSpPr>
          <p:cNvPr name="Freeform 8" id="8"/>
          <p:cNvSpPr/>
          <p:nvPr/>
        </p:nvSpPr>
        <p:spPr>
          <a:xfrm flipH="false" flipV="false" rot="0">
            <a:off x="708153" y="7606302"/>
            <a:ext cx="2112604" cy="1859092"/>
          </a:xfrm>
          <a:custGeom>
            <a:avLst/>
            <a:gdLst/>
            <a:ahLst/>
            <a:cxnLst/>
            <a:rect r="r" b="b" t="t" l="l"/>
            <a:pathLst>
              <a:path h="1859092" w="2112604">
                <a:moveTo>
                  <a:pt x="0" y="0"/>
                </a:moveTo>
                <a:lnTo>
                  <a:pt x="2112604" y="0"/>
                </a:lnTo>
                <a:lnTo>
                  <a:pt x="2112604"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9867544" y="666750"/>
            <a:ext cx="7753706" cy="3805653"/>
            <a:chOff x="0" y="0"/>
            <a:chExt cx="10338274" cy="5074205"/>
          </a:xfrm>
        </p:grpSpPr>
        <p:sp>
          <p:nvSpPr>
            <p:cNvPr name="TextBox 10" id="10"/>
            <p:cNvSpPr txBox="true"/>
            <p:nvPr/>
          </p:nvSpPr>
          <p:spPr>
            <a:xfrm rot="0">
              <a:off x="0" y="-19050"/>
              <a:ext cx="10338274" cy="704850"/>
            </a:xfrm>
            <a:prstGeom prst="rect">
              <a:avLst/>
            </a:prstGeom>
          </p:spPr>
          <p:txBody>
            <a:bodyPr anchor="t" rtlCol="false" tIns="0" lIns="0" bIns="0" rIns="0">
              <a:spAutoFit/>
            </a:bodyPr>
            <a:lstStyle/>
            <a:p>
              <a:pPr algn="l" marL="0" indent="0" lvl="0">
                <a:lnSpc>
                  <a:spcPts val="4053"/>
                </a:lnSpc>
                <a:spcBef>
                  <a:spcPct val="0"/>
                </a:spcBef>
              </a:pPr>
              <a:r>
                <a:rPr lang="en-US" b="true" sz="3377" spc="-50">
                  <a:solidFill>
                    <a:srgbClr val="FFFFFF"/>
                  </a:solidFill>
                  <a:latin typeface="Comfortaa Bold"/>
                  <a:ea typeface="Comfortaa Bold"/>
                  <a:cs typeface="Comfortaa Bold"/>
                  <a:sym typeface="Comfortaa Bold"/>
                </a:rPr>
                <a:t>Học đặc trưng</a:t>
              </a:r>
            </a:p>
          </p:txBody>
        </p:sp>
        <p:sp>
          <p:nvSpPr>
            <p:cNvPr name="TextBox 11" id="11"/>
            <p:cNvSpPr txBox="true"/>
            <p:nvPr/>
          </p:nvSpPr>
          <p:spPr>
            <a:xfrm rot="0">
              <a:off x="0" y="1394592"/>
              <a:ext cx="10338274" cy="3679613"/>
            </a:xfrm>
            <a:prstGeom prst="rect">
              <a:avLst/>
            </a:prstGeom>
          </p:spPr>
          <p:txBody>
            <a:bodyPr anchor="t" rtlCol="false" tIns="0" lIns="0" bIns="0" rIns="0">
              <a:spAutoFit/>
            </a:bodyPr>
            <a:lstStyle/>
            <a:p>
              <a:pPr algn="l" marL="0" indent="0" lvl="0">
                <a:lnSpc>
                  <a:spcPts val="3659"/>
                </a:lnSpc>
                <a:spcBef>
                  <a:spcPct val="0"/>
                </a:spcBef>
              </a:pPr>
              <a:r>
                <a:rPr lang="en-US" sz="2814" spc="-42">
                  <a:solidFill>
                    <a:srgbClr val="FFFFFF"/>
                  </a:solidFill>
                  <a:latin typeface="Comfortaa"/>
                  <a:ea typeface="Comfortaa"/>
                  <a:cs typeface="Comfortaa"/>
                  <a:sym typeface="Comfortaa"/>
                </a:rPr>
                <a:t>CNN học được các đặc trưng cục bộ một cách hiệu quả nhờ cấu trúc phân cấp, cho phép chúng nhận diện các mẫu ở nhiều mức độ phức tạp khác nhau, từ đó cải thiện độ chính xác tổng thể trong các bài toán phân loại.</a:t>
              </a:r>
            </a:p>
          </p:txBody>
        </p:sp>
      </p:grpSp>
      <p:grpSp>
        <p:nvGrpSpPr>
          <p:cNvPr name="Group 12" id="12"/>
          <p:cNvGrpSpPr/>
          <p:nvPr/>
        </p:nvGrpSpPr>
        <p:grpSpPr>
          <a:xfrm rot="0">
            <a:off x="9867544" y="5143500"/>
            <a:ext cx="7753706" cy="3344506"/>
            <a:chOff x="0" y="0"/>
            <a:chExt cx="10338274" cy="4459342"/>
          </a:xfrm>
        </p:grpSpPr>
        <p:sp>
          <p:nvSpPr>
            <p:cNvPr name="TextBox 13" id="13"/>
            <p:cNvSpPr txBox="true"/>
            <p:nvPr/>
          </p:nvSpPr>
          <p:spPr>
            <a:xfrm rot="0">
              <a:off x="0" y="-19050"/>
              <a:ext cx="10338274" cy="704850"/>
            </a:xfrm>
            <a:prstGeom prst="rect">
              <a:avLst/>
            </a:prstGeom>
          </p:spPr>
          <p:txBody>
            <a:bodyPr anchor="t" rtlCol="false" tIns="0" lIns="0" bIns="0" rIns="0">
              <a:spAutoFit/>
            </a:bodyPr>
            <a:lstStyle/>
            <a:p>
              <a:pPr algn="l" marL="0" indent="0" lvl="0">
                <a:lnSpc>
                  <a:spcPts val="4053"/>
                </a:lnSpc>
                <a:spcBef>
                  <a:spcPct val="0"/>
                </a:spcBef>
              </a:pPr>
              <a:r>
                <a:rPr lang="en-US" b="true" sz="3377" spc="-50">
                  <a:solidFill>
                    <a:srgbClr val="FFFFFF"/>
                  </a:solidFill>
                  <a:latin typeface="Comfortaa Bold"/>
                  <a:ea typeface="Comfortaa Bold"/>
                  <a:cs typeface="Comfortaa Bold"/>
                  <a:sym typeface="Comfortaa Bold"/>
                </a:rPr>
                <a:t>Bất biến dịch chuyển</a:t>
              </a:r>
            </a:p>
          </p:txBody>
        </p:sp>
        <p:sp>
          <p:nvSpPr>
            <p:cNvPr name="TextBox 14" id="14"/>
            <p:cNvSpPr txBox="true"/>
            <p:nvPr/>
          </p:nvSpPr>
          <p:spPr>
            <a:xfrm rot="0">
              <a:off x="0" y="1394592"/>
              <a:ext cx="10338274" cy="3064750"/>
            </a:xfrm>
            <a:prstGeom prst="rect">
              <a:avLst/>
            </a:prstGeom>
          </p:spPr>
          <p:txBody>
            <a:bodyPr anchor="t" rtlCol="false" tIns="0" lIns="0" bIns="0" rIns="0">
              <a:spAutoFit/>
            </a:bodyPr>
            <a:lstStyle/>
            <a:p>
              <a:pPr algn="l" marL="0" indent="0" lvl="0">
                <a:lnSpc>
                  <a:spcPts val="3659"/>
                </a:lnSpc>
                <a:spcBef>
                  <a:spcPct val="0"/>
                </a:spcBef>
              </a:pPr>
              <a:r>
                <a:rPr lang="en-US" sz="2814" spc="-42">
                  <a:solidFill>
                    <a:srgbClr val="FFFFFF"/>
                  </a:solidFill>
                  <a:latin typeface="Comfortaa"/>
                  <a:ea typeface="Comfortaa"/>
                  <a:cs typeface="Comfortaa"/>
                  <a:sym typeface="Comfortaa"/>
                </a:rPr>
                <a:t>Tính bất biến theo dịch chuyển của CNN cho phép chúng nhận diện các đối tượng trong ảnh bất kể vị trí của chúng, giúp mô hình trở nên mạnh mẽ trong nhiều ứng dụng thực tế và cải thiện hiệu suất.</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259300" y="9220200"/>
            <a:ext cx="152400" cy="190500"/>
          </a:xfrm>
          <a:prstGeom prst="rect">
            <a:avLst/>
          </a:prstGeom>
        </p:spPr>
        <p:txBody>
          <a:bodyPr anchor="t" rtlCol="false" tIns="0" lIns="0" bIns="0" rIns="0" wrap="none">
            <a:spAutoFit/>
          </a:bodyPr>
          <a:lstStyle/>
          <a:p>
            <a:pPr algn="ctr">
              <a:lnSpc>
                <a:spcPts val="2800"/>
              </a:lnSpc>
              <a:spcBef>
                <a:spcPct val="0"/>
              </a:spcBef>
            </a:pPr>
            <a:r>
              <a:rPr lang="en-US" sz="2000">
                <a:solidFill>
                  <a:srgbClr val="0B1F4B"/>
                </a:solidFill>
                <a:latin typeface="Helvetica World"/>
                <a:ea typeface="Helvetica World"/>
                <a:cs typeface="Helvetica World"/>
                <a:sym typeface="Helvetica World"/>
              </a:rPr>
              <a:t>5</a:t>
            </a:r>
          </a:p>
        </p:txBody>
      </p:sp>
      <p:grpSp>
        <p:nvGrpSpPr>
          <p:cNvPr name="Group 3" id="3"/>
          <p:cNvGrpSpPr/>
          <p:nvPr/>
        </p:nvGrpSpPr>
        <p:grpSpPr>
          <a:xfrm rot="0">
            <a:off x="666750" y="666750"/>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65439E"/>
            </a:solidFill>
            <a:ln cap="rnd">
              <a:noFill/>
              <a:prstDash val="solid"/>
              <a:round/>
            </a:ln>
          </p:spPr>
        </p:sp>
        <p:sp>
          <p:nvSpPr>
            <p:cNvPr name="TextBox 5" id="5"/>
            <p:cNvSpPr txBox="true"/>
            <p:nvPr/>
          </p:nvSpPr>
          <p:spPr>
            <a:xfrm>
              <a:off x="0" y="-38100"/>
              <a:ext cx="4465383" cy="2396223"/>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6" id="6"/>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2993293" y="3366366"/>
            <a:ext cx="4512318" cy="4961999"/>
          </a:xfrm>
          <a:custGeom>
            <a:avLst/>
            <a:gdLst/>
            <a:ahLst/>
            <a:cxnLst/>
            <a:rect r="r" b="b" t="t" l="l"/>
            <a:pathLst>
              <a:path h="4961999" w="4512318">
                <a:moveTo>
                  <a:pt x="0" y="0"/>
                </a:moveTo>
                <a:lnTo>
                  <a:pt x="4512318" y="0"/>
                </a:lnTo>
                <a:lnTo>
                  <a:pt x="4512318" y="4961999"/>
                </a:lnTo>
                <a:lnTo>
                  <a:pt x="0" y="4961999"/>
                </a:lnTo>
                <a:lnTo>
                  <a:pt x="0" y="0"/>
                </a:lnTo>
                <a:close/>
              </a:path>
            </a:pathLst>
          </a:custGeom>
          <a:blipFill>
            <a:blip r:embed="rId4"/>
            <a:stretch>
              <a:fillRect l="0" t="0" r="0" b="0"/>
            </a:stretch>
          </a:blipFill>
        </p:spPr>
      </p:sp>
      <p:sp>
        <p:nvSpPr>
          <p:cNvPr name="Freeform 8" id="8"/>
          <p:cNvSpPr/>
          <p:nvPr/>
        </p:nvSpPr>
        <p:spPr>
          <a:xfrm flipH="false" flipV="false" rot="0">
            <a:off x="10434851" y="3366366"/>
            <a:ext cx="4502555" cy="4961999"/>
          </a:xfrm>
          <a:custGeom>
            <a:avLst/>
            <a:gdLst/>
            <a:ahLst/>
            <a:cxnLst/>
            <a:rect r="r" b="b" t="t" l="l"/>
            <a:pathLst>
              <a:path h="4961999" w="4502555">
                <a:moveTo>
                  <a:pt x="0" y="0"/>
                </a:moveTo>
                <a:lnTo>
                  <a:pt x="4502554" y="0"/>
                </a:lnTo>
                <a:lnTo>
                  <a:pt x="4502554" y="4961999"/>
                </a:lnTo>
                <a:lnTo>
                  <a:pt x="0" y="4961999"/>
                </a:lnTo>
                <a:lnTo>
                  <a:pt x="0" y="0"/>
                </a:lnTo>
                <a:close/>
              </a:path>
            </a:pathLst>
          </a:custGeom>
          <a:blipFill>
            <a:blip r:embed="rId5"/>
            <a:stretch>
              <a:fillRect l="0" t="0" r="0" b="0"/>
            </a:stretch>
          </a:blipFill>
        </p:spPr>
      </p:sp>
      <p:grpSp>
        <p:nvGrpSpPr>
          <p:cNvPr name="Group 9" id="9"/>
          <p:cNvGrpSpPr/>
          <p:nvPr/>
        </p:nvGrpSpPr>
        <p:grpSpPr>
          <a:xfrm rot="0">
            <a:off x="1800225" y="1562100"/>
            <a:ext cx="14857962" cy="4019550"/>
            <a:chOff x="0" y="0"/>
            <a:chExt cx="19810616" cy="5359400"/>
          </a:xfrm>
        </p:grpSpPr>
        <p:sp>
          <p:nvSpPr>
            <p:cNvPr name="TextBox 10" id="10"/>
            <p:cNvSpPr txBox="true"/>
            <p:nvPr/>
          </p:nvSpPr>
          <p:spPr>
            <a:xfrm rot="0">
              <a:off x="0" y="-95250"/>
              <a:ext cx="19810616" cy="1712383"/>
            </a:xfrm>
            <a:prstGeom prst="rect">
              <a:avLst/>
            </a:prstGeom>
          </p:spPr>
          <p:txBody>
            <a:bodyPr anchor="t" rtlCol="false" tIns="0" lIns="0" bIns="0" rIns="0">
              <a:spAutoFit/>
            </a:bodyPr>
            <a:lstStyle/>
            <a:p>
              <a:pPr algn="l" marL="0" indent="0" lvl="0">
                <a:lnSpc>
                  <a:spcPts val="10400"/>
                </a:lnSpc>
              </a:pPr>
              <a:r>
                <a:rPr lang="en-US" sz="8000" spc="-240">
                  <a:solidFill>
                    <a:srgbClr val="FFFFFF"/>
                  </a:solidFill>
                  <a:latin typeface="Comfortaa"/>
                  <a:ea typeface="Comfortaa"/>
                  <a:cs typeface="Comfortaa"/>
                  <a:sym typeface="Comfortaa"/>
                </a:rPr>
                <a:t>Kiến trúc tổng quan mô hình</a:t>
              </a:r>
            </a:p>
          </p:txBody>
        </p:sp>
        <p:sp>
          <p:nvSpPr>
            <p:cNvPr name="TextBox 11" id="11"/>
            <p:cNvSpPr txBox="true"/>
            <p:nvPr/>
          </p:nvSpPr>
          <p:spPr>
            <a:xfrm rot="0">
              <a:off x="0" y="4821766"/>
              <a:ext cx="13512134" cy="537634"/>
            </a:xfrm>
            <a:prstGeom prst="rect">
              <a:avLst/>
            </a:prstGeom>
          </p:spPr>
          <p:txBody>
            <a:bodyPr anchor="t" rtlCol="false" tIns="0" lIns="0" bIns="0" rIns="0">
              <a:spAutoFit/>
            </a:bodyPr>
            <a:lstStyle/>
            <a:p>
              <a:pPr algn="l" marL="0" indent="0" lvl="0">
                <a:lnSpc>
                  <a:spcPts val="3499"/>
                </a:lnSpc>
              </a:pPr>
            </a:p>
          </p:txBody>
        </p:sp>
      </p:grpSp>
      <p:sp>
        <p:nvSpPr>
          <p:cNvPr name="TextBox 12" id="12"/>
          <p:cNvSpPr txBox="true"/>
          <p:nvPr/>
        </p:nvSpPr>
        <p:spPr>
          <a:xfrm rot="0">
            <a:off x="2993293" y="8664779"/>
            <a:ext cx="5240037" cy="406400"/>
          </a:xfrm>
          <a:prstGeom prst="rect">
            <a:avLst/>
          </a:prstGeom>
        </p:spPr>
        <p:txBody>
          <a:bodyPr anchor="t" rtlCol="false" tIns="0" lIns="0" bIns="0" rIns="0">
            <a:spAutoFit/>
          </a:bodyPr>
          <a:lstStyle/>
          <a:p>
            <a:pPr algn="l" marL="0" indent="0" lvl="0">
              <a:lnSpc>
                <a:spcPts val="3249"/>
              </a:lnSpc>
              <a:spcBef>
                <a:spcPct val="0"/>
              </a:spcBef>
            </a:pPr>
            <a:r>
              <a:rPr lang="en-US" sz="2499" spc="-37">
                <a:solidFill>
                  <a:srgbClr val="FFFFFF"/>
                </a:solidFill>
                <a:latin typeface="Comfortaa"/>
                <a:ea typeface="Comfortaa"/>
                <a:cs typeface="Comfortaa"/>
                <a:sym typeface="Comfortaa"/>
              </a:rPr>
              <a:t>Nhận dạng chữ số viết tay</a:t>
            </a:r>
          </a:p>
        </p:txBody>
      </p:sp>
      <p:sp>
        <p:nvSpPr>
          <p:cNvPr name="TextBox 13" id="13"/>
          <p:cNvSpPr txBox="true"/>
          <p:nvPr/>
        </p:nvSpPr>
        <p:spPr>
          <a:xfrm rot="0">
            <a:off x="10434851" y="8664779"/>
            <a:ext cx="5240037" cy="406400"/>
          </a:xfrm>
          <a:prstGeom prst="rect">
            <a:avLst/>
          </a:prstGeom>
        </p:spPr>
        <p:txBody>
          <a:bodyPr anchor="t" rtlCol="false" tIns="0" lIns="0" bIns="0" rIns="0">
            <a:spAutoFit/>
          </a:bodyPr>
          <a:lstStyle/>
          <a:p>
            <a:pPr algn="l" marL="0" indent="0" lvl="0">
              <a:lnSpc>
                <a:spcPts val="3249"/>
              </a:lnSpc>
              <a:spcBef>
                <a:spcPct val="0"/>
              </a:spcBef>
            </a:pPr>
            <a:r>
              <a:rPr lang="en-US" sz="2499" spc="-37">
                <a:solidFill>
                  <a:srgbClr val="FFFFFF"/>
                </a:solidFill>
                <a:latin typeface="Comfortaa"/>
                <a:ea typeface="Comfortaa"/>
                <a:cs typeface="Comfortaa"/>
                <a:sym typeface="Comfortaa"/>
              </a:rPr>
              <a:t>Nhận dạng hình học cơ bản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4B2C83"/>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457450"/>
            <a:chOff x="0" y="0"/>
            <a:chExt cx="4816593" cy="647230"/>
          </a:xfrm>
        </p:grpSpPr>
        <p:sp>
          <p:nvSpPr>
            <p:cNvPr name="Freeform 3" id="3"/>
            <p:cNvSpPr/>
            <p:nvPr/>
          </p:nvSpPr>
          <p:spPr>
            <a:xfrm flipH="false" flipV="false" rot="0">
              <a:off x="0" y="0"/>
              <a:ext cx="4816592" cy="647230"/>
            </a:xfrm>
            <a:custGeom>
              <a:avLst/>
              <a:gdLst/>
              <a:ahLst/>
              <a:cxnLst/>
              <a:rect r="r" b="b" t="t" l="l"/>
              <a:pathLst>
                <a:path h="647230" w="4816592">
                  <a:moveTo>
                    <a:pt x="0" y="0"/>
                  </a:moveTo>
                  <a:lnTo>
                    <a:pt x="4816592" y="0"/>
                  </a:lnTo>
                  <a:lnTo>
                    <a:pt x="4816592" y="647230"/>
                  </a:lnTo>
                  <a:lnTo>
                    <a:pt x="0" y="647230"/>
                  </a:lnTo>
                  <a:close/>
                </a:path>
              </a:pathLst>
            </a:custGeom>
            <a:solidFill>
              <a:srgbClr val="0B1F4B"/>
            </a:solidFill>
          </p:spPr>
        </p:sp>
        <p:sp>
          <p:nvSpPr>
            <p:cNvPr name="TextBox 4" id="4"/>
            <p:cNvSpPr txBox="true"/>
            <p:nvPr/>
          </p:nvSpPr>
          <p:spPr>
            <a:xfrm>
              <a:off x="0" y="-38100"/>
              <a:ext cx="4816593" cy="685330"/>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334421" y="3352800"/>
            <a:ext cx="7681735" cy="6267450"/>
            <a:chOff x="0" y="0"/>
            <a:chExt cx="1008823" cy="823089"/>
          </a:xfrm>
        </p:grpSpPr>
        <p:sp>
          <p:nvSpPr>
            <p:cNvPr name="Freeform 6" id="6"/>
            <p:cNvSpPr/>
            <p:nvPr/>
          </p:nvSpPr>
          <p:spPr>
            <a:xfrm flipH="false" flipV="false" rot="0">
              <a:off x="0" y="0"/>
              <a:ext cx="1008823" cy="823089"/>
            </a:xfrm>
            <a:custGeom>
              <a:avLst/>
              <a:gdLst/>
              <a:ahLst/>
              <a:cxnLst/>
              <a:rect r="r" b="b" t="t" l="l"/>
              <a:pathLst>
                <a:path h="823089" w="1008823">
                  <a:moveTo>
                    <a:pt x="20157" y="0"/>
                  </a:moveTo>
                  <a:lnTo>
                    <a:pt x="988667" y="0"/>
                  </a:lnTo>
                  <a:cubicBezTo>
                    <a:pt x="994013" y="0"/>
                    <a:pt x="999139" y="2124"/>
                    <a:pt x="1002920" y="5904"/>
                  </a:cubicBezTo>
                  <a:cubicBezTo>
                    <a:pt x="1006700" y="9684"/>
                    <a:pt x="1008823" y="14811"/>
                    <a:pt x="1008823" y="20157"/>
                  </a:cubicBezTo>
                  <a:lnTo>
                    <a:pt x="1008823" y="802932"/>
                  </a:lnTo>
                  <a:cubicBezTo>
                    <a:pt x="1008823" y="808278"/>
                    <a:pt x="1006700" y="813405"/>
                    <a:pt x="1002920" y="817185"/>
                  </a:cubicBezTo>
                  <a:cubicBezTo>
                    <a:pt x="999139" y="820965"/>
                    <a:pt x="994013" y="823089"/>
                    <a:pt x="988667" y="823089"/>
                  </a:cubicBezTo>
                  <a:lnTo>
                    <a:pt x="20157" y="823089"/>
                  </a:lnTo>
                  <a:cubicBezTo>
                    <a:pt x="14811" y="823089"/>
                    <a:pt x="9684" y="820965"/>
                    <a:pt x="5904" y="817185"/>
                  </a:cubicBezTo>
                  <a:cubicBezTo>
                    <a:pt x="2124" y="813405"/>
                    <a:pt x="0" y="808278"/>
                    <a:pt x="0" y="802932"/>
                  </a:cubicBezTo>
                  <a:lnTo>
                    <a:pt x="0" y="20157"/>
                  </a:lnTo>
                  <a:cubicBezTo>
                    <a:pt x="0" y="14811"/>
                    <a:pt x="2124" y="9684"/>
                    <a:pt x="5904" y="5904"/>
                  </a:cubicBezTo>
                  <a:cubicBezTo>
                    <a:pt x="9684" y="2124"/>
                    <a:pt x="14811" y="0"/>
                    <a:pt x="20157" y="0"/>
                  </a:cubicBezTo>
                  <a:close/>
                </a:path>
              </a:pathLst>
            </a:custGeom>
            <a:blipFill>
              <a:blip r:embed="rId2"/>
              <a:stretch>
                <a:fillRect l="-23669" t="0" r="-23669" b="0"/>
              </a:stretch>
            </a:blipFill>
          </p:spPr>
        </p:sp>
      </p:grpSp>
      <p:sp>
        <p:nvSpPr>
          <p:cNvPr name="Freeform 7" id="7"/>
          <p:cNvSpPr/>
          <p:nvPr/>
        </p:nvSpPr>
        <p:spPr>
          <a:xfrm flipH="false" flipV="false" rot="0">
            <a:off x="8363591" y="3751031"/>
            <a:ext cx="9427229" cy="5507269"/>
          </a:xfrm>
          <a:custGeom>
            <a:avLst/>
            <a:gdLst/>
            <a:ahLst/>
            <a:cxnLst/>
            <a:rect r="r" b="b" t="t" l="l"/>
            <a:pathLst>
              <a:path h="5507269" w="9427229">
                <a:moveTo>
                  <a:pt x="0" y="0"/>
                </a:moveTo>
                <a:lnTo>
                  <a:pt x="9427229" y="0"/>
                </a:lnTo>
                <a:lnTo>
                  <a:pt x="9427229" y="5507269"/>
                </a:lnTo>
                <a:lnTo>
                  <a:pt x="0" y="5507269"/>
                </a:lnTo>
                <a:lnTo>
                  <a:pt x="0" y="0"/>
                </a:lnTo>
                <a:close/>
              </a:path>
            </a:pathLst>
          </a:custGeom>
          <a:blipFill>
            <a:blip r:embed="rId3"/>
            <a:stretch>
              <a:fillRect l="0" t="0" r="0" b="0"/>
            </a:stretch>
          </a:blipFill>
        </p:spPr>
      </p:sp>
      <p:sp>
        <p:nvSpPr>
          <p:cNvPr name="TextBox 8" id="8"/>
          <p:cNvSpPr txBox="true"/>
          <p:nvPr/>
        </p:nvSpPr>
        <p:spPr>
          <a:xfrm rot="0">
            <a:off x="666750" y="800100"/>
            <a:ext cx="16954500" cy="1079501"/>
          </a:xfrm>
          <a:prstGeom prst="rect">
            <a:avLst/>
          </a:prstGeom>
        </p:spPr>
        <p:txBody>
          <a:bodyPr anchor="t" rtlCol="false" tIns="0" lIns="0" bIns="0" rIns="0">
            <a:spAutoFit/>
          </a:bodyPr>
          <a:lstStyle/>
          <a:p>
            <a:pPr algn="l" marL="0" indent="0" lvl="0">
              <a:lnSpc>
                <a:spcPts val="8000"/>
              </a:lnSpc>
            </a:pPr>
            <a:r>
              <a:rPr lang="en-US" b="true" sz="8000" spc="-240">
                <a:solidFill>
                  <a:srgbClr val="FFFFFF"/>
                </a:solidFill>
                <a:latin typeface="Comfortaa Bold"/>
                <a:ea typeface="Comfortaa Bold"/>
                <a:cs typeface="Comfortaa Bold"/>
                <a:sym typeface="Comfortaa Bold"/>
              </a:rPr>
              <a:t>Dữ liệu MNIST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2457450"/>
            <a:chOff x="0" y="0"/>
            <a:chExt cx="4816593" cy="647230"/>
          </a:xfrm>
        </p:grpSpPr>
        <p:sp>
          <p:nvSpPr>
            <p:cNvPr name="Freeform 3" id="3"/>
            <p:cNvSpPr/>
            <p:nvPr/>
          </p:nvSpPr>
          <p:spPr>
            <a:xfrm flipH="false" flipV="false" rot="0">
              <a:off x="0" y="0"/>
              <a:ext cx="4816592" cy="647230"/>
            </a:xfrm>
            <a:custGeom>
              <a:avLst/>
              <a:gdLst/>
              <a:ahLst/>
              <a:cxnLst/>
              <a:rect r="r" b="b" t="t" l="l"/>
              <a:pathLst>
                <a:path h="647230" w="4816592">
                  <a:moveTo>
                    <a:pt x="0" y="0"/>
                  </a:moveTo>
                  <a:lnTo>
                    <a:pt x="4816592" y="0"/>
                  </a:lnTo>
                  <a:lnTo>
                    <a:pt x="4816592" y="647230"/>
                  </a:lnTo>
                  <a:lnTo>
                    <a:pt x="0" y="647230"/>
                  </a:lnTo>
                  <a:close/>
                </a:path>
              </a:pathLst>
            </a:custGeom>
            <a:solidFill>
              <a:srgbClr val="0B1F4B"/>
            </a:solidFill>
          </p:spPr>
        </p:sp>
        <p:sp>
          <p:nvSpPr>
            <p:cNvPr name="TextBox 4" id="4"/>
            <p:cNvSpPr txBox="true"/>
            <p:nvPr/>
          </p:nvSpPr>
          <p:spPr>
            <a:xfrm>
              <a:off x="0" y="-38100"/>
              <a:ext cx="4816593" cy="685330"/>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2172950" y="3352800"/>
            <a:ext cx="5448300" cy="6267450"/>
            <a:chOff x="0" y="0"/>
            <a:chExt cx="715512" cy="823089"/>
          </a:xfrm>
        </p:grpSpPr>
        <p:sp>
          <p:nvSpPr>
            <p:cNvPr name="Freeform 6" id="6"/>
            <p:cNvSpPr/>
            <p:nvPr/>
          </p:nvSpPr>
          <p:spPr>
            <a:xfrm flipH="false" flipV="false" rot="0">
              <a:off x="0" y="0"/>
              <a:ext cx="715512" cy="823089"/>
            </a:xfrm>
            <a:custGeom>
              <a:avLst/>
              <a:gdLst/>
              <a:ahLst/>
              <a:cxnLst/>
              <a:rect r="r" b="b" t="t" l="l"/>
              <a:pathLst>
                <a:path h="823089" w="715512">
                  <a:moveTo>
                    <a:pt x="28420" y="0"/>
                  </a:moveTo>
                  <a:lnTo>
                    <a:pt x="687092" y="0"/>
                  </a:lnTo>
                  <a:cubicBezTo>
                    <a:pt x="702788" y="0"/>
                    <a:pt x="715512" y="12724"/>
                    <a:pt x="715512" y="28420"/>
                  </a:cubicBezTo>
                  <a:lnTo>
                    <a:pt x="715512" y="794669"/>
                  </a:lnTo>
                  <a:cubicBezTo>
                    <a:pt x="715512" y="802206"/>
                    <a:pt x="712518" y="809435"/>
                    <a:pt x="707188" y="814765"/>
                  </a:cubicBezTo>
                  <a:cubicBezTo>
                    <a:pt x="701858" y="820095"/>
                    <a:pt x="694630" y="823089"/>
                    <a:pt x="687092" y="823089"/>
                  </a:cubicBezTo>
                  <a:lnTo>
                    <a:pt x="28420" y="823089"/>
                  </a:lnTo>
                  <a:cubicBezTo>
                    <a:pt x="12724" y="823089"/>
                    <a:pt x="0" y="810365"/>
                    <a:pt x="0" y="794669"/>
                  </a:cubicBezTo>
                  <a:lnTo>
                    <a:pt x="0" y="28420"/>
                  </a:lnTo>
                  <a:cubicBezTo>
                    <a:pt x="0" y="12724"/>
                    <a:pt x="12724" y="0"/>
                    <a:pt x="28420" y="0"/>
                  </a:cubicBezTo>
                  <a:close/>
                </a:path>
              </a:pathLst>
            </a:custGeom>
            <a:blipFill>
              <a:blip r:embed="rId2"/>
              <a:stretch>
                <a:fillRect l="0" t="-103" r="0" b="-103"/>
              </a:stretch>
            </a:blipFill>
          </p:spPr>
        </p:sp>
      </p:grpSp>
      <p:sp>
        <p:nvSpPr>
          <p:cNvPr name="Freeform 7" id="7"/>
          <p:cNvSpPr/>
          <p:nvPr/>
        </p:nvSpPr>
        <p:spPr>
          <a:xfrm flipH="false" flipV="false" rot="0">
            <a:off x="502411" y="3801589"/>
            <a:ext cx="11301259" cy="2585163"/>
          </a:xfrm>
          <a:custGeom>
            <a:avLst/>
            <a:gdLst/>
            <a:ahLst/>
            <a:cxnLst/>
            <a:rect r="r" b="b" t="t" l="l"/>
            <a:pathLst>
              <a:path h="2585163" w="11301259">
                <a:moveTo>
                  <a:pt x="0" y="0"/>
                </a:moveTo>
                <a:lnTo>
                  <a:pt x="11301259" y="0"/>
                </a:lnTo>
                <a:lnTo>
                  <a:pt x="11301259" y="2585163"/>
                </a:lnTo>
                <a:lnTo>
                  <a:pt x="0" y="2585163"/>
                </a:lnTo>
                <a:lnTo>
                  <a:pt x="0" y="0"/>
                </a:lnTo>
                <a:close/>
              </a:path>
            </a:pathLst>
          </a:custGeom>
          <a:blipFill>
            <a:blip r:embed="rId3"/>
            <a:stretch>
              <a:fillRect l="0" t="0" r="0" b="0"/>
            </a:stretch>
          </a:blipFill>
        </p:spPr>
      </p:sp>
      <p:sp>
        <p:nvSpPr>
          <p:cNvPr name="Freeform 8" id="8"/>
          <p:cNvSpPr/>
          <p:nvPr/>
        </p:nvSpPr>
        <p:spPr>
          <a:xfrm flipH="false" flipV="false" rot="0">
            <a:off x="502411" y="7000792"/>
            <a:ext cx="11301259" cy="2170669"/>
          </a:xfrm>
          <a:custGeom>
            <a:avLst/>
            <a:gdLst/>
            <a:ahLst/>
            <a:cxnLst/>
            <a:rect r="r" b="b" t="t" l="l"/>
            <a:pathLst>
              <a:path h="2170669" w="11301259">
                <a:moveTo>
                  <a:pt x="0" y="0"/>
                </a:moveTo>
                <a:lnTo>
                  <a:pt x="11301259" y="0"/>
                </a:lnTo>
                <a:lnTo>
                  <a:pt x="11301259" y="2170669"/>
                </a:lnTo>
                <a:lnTo>
                  <a:pt x="0" y="2170669"/>
                </a:lnTo>
                <a:lnTo>
                  <a:pt x="0" y="0"/>
                </a:lnTo>
                <a:close/>
              </a:path>
            </a:pathLst>
          </a:custGeom>
          <a:blipFill>
            <a:blip r:embed="rId4"/>
            <a:stretch>
              <a:fillRect l="0" t="0" r="0" b="0"/>
            </a:stretch>
          </a:blipFill>
        </p:spPr>
      </p:sp>
      <p:sp>
        <p:nvSpPr>
          <p:cNvPr name="TextBox 9" id="9"/>
          <p:cNvSpPr txBox="true"/>
          <p:nvPr/>
        </p:nvSpPr>
        <p:spPr>
          <a:xfrm rot="0">
            <a:off x="666750" y="800100"/>
            <a:ext cx="16954500" cy="1079501"/>
          </a:xfrm>
          <a:prstGeom prst="rect">
            <a:avLst/>
          </a:prstGeom>
        </p:spPr>
        <p:txBody>
          <a:bodyPr anchor="t" rtlCol="false" tIns="0" lIns="0" bIns="0" rIns="0">
            <a:spAutoFit/>
          </a:bodyPr>
          <a:lstStyle/>
          <a:p>
            <a:pPr algn="l" marL="0" indent="0" lvl="0">
              <a:lnSpc>
                <a:spcPts val="8000"/>
              </a:lnSpc>
            </a:pPr>
            <a:r>
              <a:rPr lang="en-US" sz="8000" spc="-240">
                <a:solidFill>
                  <a:srgbClr val="FFFFFF"/>
                </a:solidFill>
                <a:latin typeface="Comfortaa"/>
                <a:ea typeface="Comfortaa"/>
                <a:cs typeface="Comfortaa"/>
                <a:sym typeface="Comfortaa"/>
              </a:rPr>
              <a:t>Dữ liệu hình học cơ bản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B1F4B"/>
        </a:solidFill>
      </p:bgPr>
    </p:bg>
    <p:spTree>
      <p:nvGrpSpPr>
        <p:cNvPr id="1" name=""/>
        <p:cNvGrpSpPr/>
        <p:nvPr/>
      </p:nvGrpSpPr>
      <p:grpSpPr>
        <a:xfrm>
          <a:off x="0" y="0"/>
          <a:ext cx="0" cy="0"/>
          <a:chOff x="0" y="0"/>
          <a:chExt cx="0" cy="0"/>
        </a:xfrm>
      </p:grpSpPr>
      <p:grpSp>
        <p:nvGrpSpPr>
          <p:cNvPr name="Group 2" id="2"/>
          <p:cNvGrpSpPr/>
          <p:nvPr/>
        </p:nvGrpSpPr>
        <p:grpSpPr>
          <a:xfrm rot="0">
            <a:off x="1165737" y="1965854"/>
            <a:ext cx="15956526" cy="1952625"/>
            <a:chOff x="0" y="0"/>
            <a:chExt cx="21275368" cy="2603500"/>
          </a:xfrm>
        </p:grpSpPr>
        <p:sp>
          <p:nvSpPr>
            <p:cNvPr name="TextBox 3" id="3"/>
            <p:cNvSpPr txBox="true"/>
            <p:nvPr/>
          </p:nvSpPr>
          <p:spPr>
            <a:xfrm rot="0">
              <a:off x="0" y="57150"/>
              <a:ext cx="21275368" cy="1564217"/>
            </a:xfrm>
            <a:prstGeom prst="rect">
              <a:avLst/>
            </a:prstGeom>
          </p:spPr>
          <p:txBody>
            <a:bodyPr anchor="t" rtlCol="false" tIns="0" lIns="0" bIns="0" rIns="0">
              <a:spAutoFit/>
            </a:bodyPr>
            <a:lstStyle/>
            <a:p>
              <a:pPr algn="l" marL="0" indent="0" lvl="0">
                <a:lnSpc>
                  <a:spcPts val="8800"/>
                </a:lnSpc>
              </a:pPr>
              <a:r>
                <a:rPr lang="en-US" sz="8000" spc="-240">
                  <a:solidFill>
                    <a:srgbClr val="FFFFFF"/>
                  </a:solidFill>
                  <a:latin typeface="Comfortaa"/>
                  <a:ea typeface="Comfortaa"/>
                  <a:cs typeface="Comfortaa"/>
                  <a:sym typeface="Comfortaa"/>
                </a:rPr>
                <a:t>Chi tiết cài đặt các lớp neural</a:t>
              </a:r>
            </a:p>
          </p:txBody>
        </p:sp>
        <p:sp>
          <p:nvSpPr>
            <p:cNvPr name="TextBox 4" id="4"/>
            <p:cNvSpPr txBox="true"/>
            <p:nvPr/>
          </p:nvSpPr>
          <p:spPr>
            <a:xfrm rot="0">
              <a:off x="0" y="2095500"/>
              <a:ext cx="21275368" cy="508000"/>
            </a:xfrm>
            <a:prstGeom prst="rect">
              <a:avLst/>
            </a:prstGeom>
          </p:spPr>
          <p:txBody>
            <a:bodyPr anchor="t" rtlCol="false" tIns="0" lIns="0" bIns="0" rIns="0">
              <a:spAutoFit/>
            </a:bodyPr>
            <a:lstStyle/>
            <a:p>
              <a:pPr algn="l" marL="0" indent="0" lvl="0">
                <a:lnSpc>
                  <a:spcPts val="3000"/>
                </a:lnSpc>
                <a:spcBef>
                  <a:spcPct val="0"/>
                </a:spcBef>
              </a:pPr>
            </a:p>
          </p:txBody>
        </p:sp>
      </p:grpSp>
      <p:sp>
        <p:nvSpPr>
          <p:cNvPr name="Freeform 5" id="5"/>
          <p:cNvSpPr/>
          <p:nvPr/>
        </p:nvSpPr>
        <p:spPr>
          <a:xfrm flipH="false" flipV="false" rot="0">
            <a:off x="2398772" y="4587456"/>
            <a:ext cx="13490455" cy="2497474"/>
          </a:xfrm>
          <a:custGeom>
            <a:avLst/>
            <a:gdLst/>
            <a:ahLst/>
            <a:cxnLst/>
            <a:rect r="r" b="b" t="t" l="l"/>
            <a:pathLst>
              <a:path h="2497474" w="13490455">
                <a:moveTo>
                  <a:pt x="0" y="0"/>
                </a:moveTo>
                <a:lnTo>
                  <a:pt x="13490456" y="0"/>
                </a:lnTo>
                <a:lnTo>
                  <a:pt x="13490456" y="2497474"/>
                </a:lnTo>
                <a:lnTo>
                  <a:pt x="0" y="2497474"/>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4B2C83"/>
        </a:solidFill>
      </p:bgPr>
    </p:bg>
    <p:spTree>
      <p:nvGrpSpPr>
        <p:cNvPr id="1" name=""/>
        <p:cNvGrpSpPr/>
        <p:nvPr/>
      </p:nvGrpSpPr>
      <p:grpSpPr>
        <a:xfrm>
          <a:off x="0" y="0"/>
          <a:ext cx="0" cy="0"/>
          <a:chOff x="0" y="0"/>
          <a:chExt cx="0" cy="0"/>
        </a:xfrm>
      </p:grpSpPr>
      <p:sp>
        <p:nvSpPr>
          <p:cNvPr name="TextBox 2" id="2"/>
          <p:cNvSpPr txBox="true"/>
          <p:nvPr/>
        </p:nvSpPr>
        <p:spPr>
          <a:xfrm rot="0">
            <a:off x="17259300" y="9220200"/>
            <a:ext cx="152400" cy="190500"/>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Helvetica World"/>
                <a:ea typeface="Helvetica World"/>
                <a:cs typeface="Helvetica World"/>
                <a:sym typeface="Helvetica World"/>
              </a:rPr>
              <a:t>9</a:t>
            </a:r>
          </a:p>
        </p:txBody>
      </p:sp>
      <p:grpSp>
        <p:nvGrpSpPr>
          <p:cNvPr name="Group 3" id="3"/>
          <p:cNvGrpSpPr/>
          <p:nvPr/>
        </p:nvGrpSpPr>
        <p:grpSpPr>
          <a:xfrm rot="0">
            <a:off x="-1215642" y="-567139"/>
            <a:ext cx="19503642" cy="11511003"/>
            <a:chOff x="0" y="0"/>
            <a:chExt cx="5136762" cy="3031705"/>
          </a:xfrm>
        </p:grpSpPr>
        <p:sp>
          <p:nvSpPr>
            <p:cNvPr name="Freeform 4" id="4"/>
            <p:cNvSpPr/>
            <p:nvPr/>
          </p:nvSpPr>
          <p:spPr>
            <a:xfrm flipH="false" flipV="false" rot="0">
              <a:off x="0" y="0"/>
              <a:ext cx="5136762" cy="3031704"/>
            </a:xfrm>
            <a:custGeom>
              <a:avLst/>
              <a:gdLst/>
              <a:ahLst/>
              <a:cxnLst/>
              <a:rect r="r" b="b" t="t" l="l"/>
              <a:pathLst>
                <a:path h="3031704" w="5136762">
                  <a:moveTo>
                    <a:pt x="17863" y="0"/>
                  </a:moveTo>
                  <a:lnTo>
                    <a:pt x="5118899" y="0"/>
                  </a:lnTo>
                  <a:cubicBezTo>
                    <a:pt x="5123636" y="0"/>
                    <a:pt x="5128180" y="1882"/>
                    <a:pt x="5131530" y="5232"/>
                  </a:cubicBezTo>
                  <a:cubicBezTo>
                    <a:pt x="5134880" y="8582"/>
                    <a:pt x="5136762" y="13125"/>
                    <a:pt x="5136762" y="17863"/>
                  </a:cubicBezTo>
                  <a:lnTo>
                    <a:pt x="5136762" y="3013842"/>
                  </a:lnTo>
                  <a:cubicBezTo>
                    <a:pt x="5136762" y="3018579"/>
                    <a:pt x="5134880" y="3023123"/>
                    <a:pt x="5131530" y="3026473"/>
                  </a:cubicBezTo>
                  <a:cubicBezTo>
                    <a:pt x="5128180" y="3029823"/>
                    <a:pt x="5123636" y="3031704"/>
                    <a:pt x="5118899" y="3031704"/>
                  </a:cubicBezTo>
                  <a:lnTo>
                    <a:pt x="17863" y="3031704"/>
                  </a:lnTo>
                  <a:cubicBezTo>
                    <a:pt x="13125" y="3031704"/>
                    <a:pt x="8582" y="3029823"/>
                    <a:pt x="5232" y="3026473"/>
                  </a:cubicBezTo>
                  <a:cubicBezTo>
                    <a:pt x="1882" y="3023123"/>
                    <a:pt x="0" y="3018579"/>
                    <a:pt x="0" y="3013842"/>
                  </a:cubicBezTo>
                  <a:lnTo>
                    <a:pt x="0" y="17863"/>
                  </a:lnTo>
                  <a:cubicBezTo>
                    <a:pt x="0" y="13125"/>
                    <a:pt x="1882" y="8582"/>
                    <a:pt x="5232" y="5232"/>
                  </a:cubicBezTo>
                  <a:cubicBezTo>
                    <a:pt x="8582" y="1882"/>
                    <a:pt x="13125" y="0"/>
                    <a:pt x="17863" y="0"/>
                  </a:cubicBezTo>
                  <a:close/>
                </a:path>
              </a:pathLst>
            </a:custGeom>
            <a:solidFill>
              <a:srgbClr val="0B1F4B"/>
            </a:solidFill>
            <a:ln cap="rnd">
              <a:noFill/>
              <a:prstDash val="solid"/>
              <a:round/>
            </a:ln>
          </p:spPr>
        </p:sp>
        <p:sp>
          <p:nvSpPr>
            <p:cNvPr name="TextBox 5" id="5"/>
            <p:cNvSpPr txBox="true"/>
            <p:nvPr/>
          </p:nvSpPr>
          <p:spPr>
            <a:xfrm>
              <a:off x="0" y="-38100"/>
              <a:ext cx="5136762" cy="3069805"/>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6" id="6"/>
          <p:cNvSpPr/>
          <p:nvPr/>
        </p:nvSpPr>
        <p:spPr>
          <a:xfrm flipH="false" flipV="false" rot="0">
            <a:off x="1467896" y="2901047"/>
            <a:ext cx="8165036" cy="5981220"/>
          </a:xfrm>
          <a:custGeom>
            <a:avLst/>
            <a:gdLst/>
            <a:ahLst/>
            <a:cxnLst/>
            <a:rect r="r" b="b" t="t" l="l"/>
            <a:pathLst>
              <a:path h="5981220" w="8165036">
                <a:moveTo>
                  <a:pt x="0" y="0"/>
                </a:moveTo>
                <a:lnTo>
                  <a:pt x="8165036" y="0"/>
                </a:lnTo>
                <a:lnTo>
                  <a:pt x="8165036" y="5981220"/>
                </a:lnTo>
                <a:lnTo>
                  <a:pt x="0" y="5981220"/>
                </a:lnTo>
                <a:lnTo>
                  <a:pt x="0" y="0"/>
                </a:lnTo>
                <a:close/>
              </a:path>
            </a:pathLst>
          </a:custGeom>
          <a:blipFill>
            <a:blip r:embed="rId2"/>
            <a:stretch>
              <a:fillRect l="0" t="0" r="-37239" b="0"/>
            </a:stretch>
          </a:blipFill>
        </p:spPr>
      </p:sp>
      <p:sp>
        <p:nvSpPr>
          <p:cNvPr name="Freeform 7" id="7"/>
          <p:cNvSpPr/>
          <p:nvPr/>
        </p:nvSpPr>
        <p:spPr>
          <a:xfrm flipH="false" flipV="false" rot="0">
            <a:off x="9809511" y="5110662"/>
            <a:ext cx="7346266" cy="1324736"/>
          </a:xfrm>
          <a:custGeom>
            <a:avLst/>
            <a:gdLst/>
            <a:ahLst/>
            <a:cxnLst/>
            <a:rect r="r" b="b" t="t" l="l"/>
            <a:pathLst>
              <a:path h="1324736" w="7346266">
                <a:moveTo>
                  <a:pt x="0" y="0"/>
                </a:moveTo>
                <a:lnTo>
                  <a:pt x="7346265" y="0"/>
                </a:lnTo>
                <a:lnTo>
                  <a:pt x="7346265" y="1324736"/>
                </a:lnTo>
                <a:lnTo>
                  <a:pt x="0" y="1324736"/>
                </a:lnTo>
                <a:lnTo>
                  <a:pt x="0" y="0"/>
                </a:lnTo>
                <a:close/>
              </a:path>
            </a:pathLst>
          </a:custGeom>
          <a:blipFill>
            <a:blip r:embed="rId3"/>
            <a:stretch>
              <a:fillRect l="0" t="0" r="0" b="0"/>
            </a:stretch>
          </a:blipFill>
        </p:spPr>
      </p:sp>
      <p:grpSp>
        <p:nvGrpSpPr>
          <p:cNvPr name="Group 8" id="8"/>
          <p:cNvGrpSpPr/>
          <p:nvPr/>
        </p:nvGrpSpPr>
        <p:grpSpPr>
          <a:xfrm rot="0">
            <a:off x="1467896" y="1330817"/>
            <a:ext cx="14183155" cy="3981450"/>
            <a:chOff x="0" y="0"/>
            <a:chExt cx="18910874" cy="5308600"/>
          </a:xfrm>
        </p:grpSpPr>
        <p:sp>
          <p:nvSpPr>
            <p:cNvPr name="TextBox 9" id="9"/>
            <p:cNvSpPr txBox="true"/>
            <p:nvPr/>
          </p:nvSpPr>
          <p:spPr>
            <a:xfrm rot="0">
              <a:off x="0" y="-95250"/>
              <a:ext cx="18910874" cy="1712383"/>
            </a:xfrm>
            <a:prstGeom prst="rect">
              <a:avLst/>
            </a:prstGeom>
          </p:spPr>
          <p:txBody>
            <a:bodyPr anchor="t" rtlCol="false" tIns="0" lIns="0" bIns="0" rIns="0">
              <a:spAutoFit/>
            </a:bodyPr>
            <a:lstStyle/>
            <a:p>
              <a:pPr algn="l" marL="0" indent="0" lvl="0">
                <a:lnSpc>
                  <a:spcPts val="10400"/>
                </a:lnSpc>
              </a:pPr>
              <a:r>
                <a:rPr lang="en-US" sz="8000" spc="-240">
                  <a:solidFill>
                    <a:srgbClr val="FFFFFF"/>
                  </a:solidFill>
                  <a:latin typeface="Comfortaa"/>
                  <a:ea typeface="Comfortaa"/>
                  <a:cs typeface="Comfortaa"/>
                  <a:sym typeface="Comfortaa"/>
                </a:rPr>
                <a:t>Convolution Layer (Conv2D)</a:t>
              </a:r>
            </a:p>
          </p:txBody>
        </p:sp>
        <p:sp>
          <p:nvSpPr>
            <p:cNvPr name="TextBox 10" id="10"/>
            <p:cNvSpPr txBox="true"/>
            <p:nvPr/>
          </p:nvSpPr>
          <p:spPr>
            <a:xfrm rot="0">
              <a:off x="0" y="3949812"/>
              <a:ext cx="17259300" cy="508000"/>
            </a:xfrm>
            <a:prstGeom prst="rect">
              <a:avLst/>
            </a:prstGeom>
          </p:spPr>
          <p:txBody>
            <a:bodyPr anchor="t" rtlCol="false" tIns="0" lIns="0" bIns="0" rIns="0">
              <a:spAutoFit/>
            </a:bodyPr>
            <a:lstStyle/>
            <a:p>
              <a:pPr algn="l" marL="0" indent="0" lvl="0">
                <a:lnSpc>
                  <a:spcPts val="3000"/>
                </a:lnSpc>
                <a:spcBef>
                  <a:spcPct val="0"/>
                </a:spcBef>
              </a:pPr>
            </a:p>
          </p:txBody>
        </p:sp>
        <p:sp>
          <p:nvSpPr>
            <p:cNvPr name="TextBox 11" id="11"/>
            <p:cNvSpPr txBox="true"/>
            <p:nvPr/>
          </p:nvSpPr>
          <p:spPr>
            <a:xfrm rot="0">
              <a:off x="0" y="4770966"/>
              <a:ext cx="13512134" cy="537634"/>
            </a:xfrm>
            <a:prstGeom prst="rect">
              <a:avLst/>
            </a:prstGeom>
          </p:spPr>
          <p:txBody>
            <a:bodyPr anchor="t" rtlCol="false" tIns="0" lIns="0" bIns="0" rIns="0">
              <a:spAutoFit/>
            </a:bodyPr>
            <a:lstStyle/>
            <a:p>
              <a:pPr algn="l" marL="0" indent="0" lvl="0">
                <a:lnSpc>
                  <a:spcPts val="3499"/>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259300" y="9220200"/>
            <a:ext cx="152400" cy="190500"/>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Helvetica World"/>
                <a:ea typeface="Helvetica World"/>
                <a:cs typeface="Helvetica World"/>
                <a:sym typeface="Helvetica World"/>
              </a:rPr>
              <a:t>10</a:t>
            </a:r>
          </a:p>
        </p:txBody>
      </p:sp>
      <p:grpSp>
        <p:nvGrpSpPr>
          <p:cNvPr name="Group 3" id="3"/>
          <p:cNvGrpSpPr/>
          <p:nvPr/>
        </p:nvGrpSpPr>
        <p:grpSpPr>
          <a:xfrm rot="0">
            <a:off x="-268192" y="-368836"/>
            <a:ext cx="19091887" cy="10816957"/>
            <a:chOff x="0" y="0"/>
            <a:chExt cx="5028316" cy="2848911"/>
          </a:xfrm>
        </p:grpSpPr>
        <p:sp>
          <p:nvSpPr>
            <p:cNvPr name="Freeform 4" id="4"/>
            <p:cNvSpPr/>
            <p:nvPr/>
          </p:nvSpPr>
          <p:spPr>
            <a:xfrm flipH="false" flipV="false" rot="0">
              <a:off x="0" y="0"/>
              <a:ext cx="5028316" cy="2848911"/>
            </a:xfrm>
            <a:custGeom>
              <a:avLst/>
              <a:gdLst/>
              <a:ahLst/>
              <a:cxnLst/>
              <a:rect r="r" b="b" t="t" l="l"/>
              <a:pathLst>
                <a:path h="2848911" w="5028316">
                  <a:moveTo>
                    <a:pt x="18248" y="0"/>
                  </a:moveTo>
                  <a:lnTo>
                    <a:pt x="5010068" y="0"/>
                  </a:lnTo>
                  <a:cubicBezTo>
                    <a:pt x="5020146" y="0"/>
                    <a:pt x="5028316" y="8170"/>
                    <a:pt x="5028316" y="18248"/>
                  </a:cubicBezTo>
                  <a:lnTo>
                    <a:pt x="5028316" y="2830663"/>
                  </a:lnTo>
                  <a:cubicBezTo>
                    <a:pt x="5028316" y="2835502"/>
                    <a:pt x="5026394" y="2840144"/>
                    <a:pt x="5022971" y="2843566"/>
                  </a:cubicBezTo>
                  <a:cubicBezTo>
                    <a:pt x="5019549" y="2846988"/>
                    <a:pt x="5014908" y="2848911"/>
                    <a:pt x="5010068" y="2848911"/>
                  </a:cubicBezTo>
                  <a:lnTo>
                    <a:pt x="18248" y="2848911"/>
                  </a:lnTo>
                  <a:cubicBezTo>
                    <a:pt x="13408" y="2848911"/>
                    <a:pt x="8767" y="2846988"/>
                    <a:pt x="5345" y="2843566"/>
                  </a:cubicBezTo>
                  <a:cubicBezTo>
                    <a:pt x="1923" y="2840144"/>
                    <a:pt x="0" y="2835502"/>
                    <a:pt x="0" y="2830663"/>
                  </a:cubicBezTo>
                  <a:lnTo>
                    <a:pt x="0" y="18248"/>
                  </a:lnTo>
                  <a:cubicBezTo>
                    <a:pt x="0" y="13408"/>
                    <a:pt x="1923" y="8767"/>
                    <a:pt x="5345" y="5345"/>
                  </a:cubicBezTo>
                  <a:cubicBezTo>
                    <a:pt x="8767" y="1923"/>
                    <a:pt x="13408" y="0"/>
                    <a:pt x="18248" y="0"/>
                  </a:cubicBezTo>
                  <a:close/>
                </a:path>
              </a:pathLst>
            </a:custGeom>
            <a:solidFill>
              <a:srgbClr val="0B1F4B"/>
            </a:solidFill>
            <a:ln cap="rnd">
              <a:noFill/>
              <a:prstDash val="solid"/>
              <a:round/>
            </a:ln>
          </p:spPr>
        </p:sp>
        <p:sp>
          <p:nvSpPr>
            <p:cNvPr name="TextBox 5" id="5"/>
            <p:cNvSpPr txBox="true"/>
            <p:nvPr/>
          </p:nvSpPr>
          <p:spPr>
            <a:xfrm>
              <a:off x="0" y="-38100"/>
              <a:ext cx="5028316" cy="2887011"/>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6" id="6"/>
          <p:cNvSpPr/>
          <p:nvPr/>
        </p:nvSpPr>
        <p:spPr>
          <a:xfrm flipH="false" flipV="false" rot="0">
            <a:off x="1607498" y="2954021"/>
            <a:ext cx="6386509" cy="6304279"/>
          </a:xfrm>
          <a:custGeom>
            <a:avLst/>
            <a:gdLst/>
            <a:ahLst/>
            <a:cxnLst/>
            <a:rect r="r" b="b" t="t" l="l"/>
            <a:pathLst>
              <a:path h="6304279" w="6386509">
                <a:moveTo>
                  <a:pt x="0" y="0"/>
                </a:moveTo>
                <a:lnTo>
                  <a:pt x="6386509" y="0"/>
                </a:lnTo>
                <a:lnTo>
                  <a:pt x="6386509" y="6304279"/>
                </a:lnTo>
                <a:lnTo>
                  <a:pt x="0" y="6304279"/>
                </a:lnTo>
                <a:lnTo>
                  <a:pt x="0" y="0"/>
                </a:lnTo>
                <a:close/>
              </a:path>
            </a:pathLst>
          </a:custGeom>
          <a:blipFill>
            <a:blip r:embed="rId2"/>
            <a:stretch>
              <a:fillRect l="0" t="0" r="0" b="0"/>
            </a:stretch>
          </a:blipFill>
        </p:spPr>
      </p:sp>
      <p:sp>
        <p:nvSpPr>
          <p:cNvPr name="Freeform 7" id="7"/>
          <p:cNvSpPr/>
          <p:nvPr/>
        </p:nvSpPr>
        <p:spPr>
          <a:xfrm flipH="false" flipV="false" rot="0">
            <a:off x="9631511" y="2954021"/>
            <a:ext cx="5818156" cy="6455092"/>
          </a:xfrm>
          <a:custGeom>
            <a:avLst/>
            <a:gdLst/>
            <a:ahLst/>
            <a:cxnLst/>
            <a:rect r="r" b="b" t="t" l="l"/>
            <a:pathLst>
              <a:path h="6455092" w="5818156">
                <a:moveTo>
                  <a:pt x="0" y="0"/>
                </a:moveTo>
                <a:lnTo>
                  <a:pt x="5818157" y="0"/>
                </a:lnTo>
                <a:lnTo>
                  <a:pt x="5818157" y="6455091"/>
                </a:lnTo>
                <a:lnTo>
                  <a:pt x="0" y="6455091"/>
                </a:lnTo>
                <a:lnTo>
                  <a:pt x="0" y="0"/>
                </a:lnTo>
                <a:close/>
              </a:path>
            </a:pathLst>
          </a:custGeom>
          <a:blipFill>
            <a:blip r:embed="rId3"/>
            <a:stretch>
              <a:fillRect l="0" t="0" r="0" b="0"/>
            </a:stretch>
          </a:blipFill>
        </p:spPr>
      </p:sp>
      <p:grpSp>
        <p:nvGrpSpPr>
          <p:cNvPr name="Group 8" id="8"/>
          <p:cNvGrpSpPr/>
          <p:nvPr/>
        </p:nvGrpSpPr>
        <p:grpSpPr>
          <a:xfrm rot="0">
            <a:off x="1467896" y="1330817"/>
            <a:ext cx="14183155" cy="3981450"/>
            <a:chOff x="0" y="0"/>
            <a:chExt cx="18910874" cy="5308600"/>
          </a:xfrm>
        </p:grpSpPr>
        <p:sp>
          <p:nvSpPr>
            <p:cNvPr name="TextBox 9" id="9"/>
            <p:cNvSpPr txBox="true"/>
            <p:nvPr/>
          </p:nvSpPr>
          <p:spPr>
            <a:xfrm rot="0">
              <a:off x="0" y="-95250"/>
              <a:ext cx="18910874" cy="1712383"/>
            </a:xfrm>
            <a:prstGeom prst="rect">
              <a:avLst/>
            </a:prstGeom>
          </p:spPr>
          <p:txBody>
            <a:bodyPr anchor="t" rtlCol="false" tIns="0" lIns="0" bIns="0" rIns="0">
              <a:spAutoFit/>
            </a:bodyPr>
            <a:lstStyle/>
            <a:p>
              <a:pPr algn="l" marL="0" indent="0" lvl="0">
                <a:lnSpc>
                  <a:spcPts val="10400"/>
                </a:lnSpc>
              </a:pPr>
              <a:r>
                <a:rPr lang="en-US" sz="8000" spc="-240">
                  <a:solidFill>
                    <a:srgbClr val="FFFFFF"/>
                  </a:solidFill>
                  <a:latin typeface="Comfortaa"/>
                  <a:ea typeface="Comfortaa"/>
                  <a:cs typeface="Comfortaa"/>
                  <a:sym typeface="Comfortaa"/>
                </a:rPr>
                <a:t>Convolution Layer (Conv2D)</a:t>
              </a:r>
            </a:p>
          </p:txBody>
        </p:sp>
        <p:sp>
          <p:nvSpPr>
            <p:cNvPr name="TextBox 10" id="10"/>
            <p:cNvSpPr txBox="true"/>
            <p:nvPr/>
          </p:nvSpPr>
          <p:spPr>
            <a:xfrm rot="0">
              <a:off x="0" y="3949812"/>
              <a:ext cx="17259300" cy="508000"/>
            </a:xfrm>
            <a:prstGeom prst="rect">
              <a:avLst/>
            </a:prstGeom>
          </p:spPr>
          <p:txBody>
            <a:bodyPr anchor="t" rtlCol="false" tIns="0" lIns="0" bIns="0" rIns="0">
              <a:spAutoFit/>
            </a:bodyPr>
            <a:lstStyle/>
            <a:p>
              <a:pPr algn="l" marL="0" indent="0" lvl="0">
                <a:lnSpc>
                  <a:spcPts val="3000"/>
                </a:lnSpc>
                <a:spcBef>
                  <a:spcPct val="0"/>
                </a:spcBef>
              </a:pPr>
            </a:p>
          </p:txBody>
        </p:sp>
        <p:sp>
          <p:nvSpPr>
            <p:cNvPr name="TextBox 11" id="11"/>
            <p:cNvSpPr txBox="true"/>
            <p:nvPr/>
          </p:nvSpPr>
          <p:spPr>
            <a:xfrm rot="0">
              <a:off x="0" y="4770966"/>
              <a:ext cx="13512134" cy="537634"/>
            </a:xfrm>
            <a:prstGeom prst="rect">
              <a:avLst/>
            </a:prstGeom>
          </p:spPr>
          <p:txBody>
            <a:bodyPr anchor="t" rtlCol="false" tIns="0" lIns="0" bIns="0" rIns="0">
              <a:spAutoFit/>
            </a:bodyPr>
            <a:lstStyle/>
            <a:p>
              <a:pPr algn="l" marL="0" indent="0" lvl="0">
                <a:lnSpc>
                  <a:spcPts val="3499"/>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259300" y="9220200"/>
            <a:ext cx="152400" cy="190500"/>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Helvetica World"/>
                <a:ea typeface="Helvetica World"/>
                <a:cs typeface="Helvetica World"/>
                <a:sym typeface="Helvetica World"/>
              </a:rPr>
              <a:t>11</a:t>
            </a:r>
          </a:p>
        </p:txBody>
      </p:sp>
      <p:grpSp>
        <p:nvGrpSpPr>
          <p:cNvPr name="Group 3" id="3"/>
          <p:cNvGrpSpPr/>
          <p:nvPr/>
        </p:nvGrpSpPr>
        <p:grpSpPr>
          <a:xfrm rot="0">
            <a:off x="-268192" y="-368836"/>
            <a:ext cx="19091887" cy="10816957"/>
            <a:chOff x="0" y="0"/>
            <a:chExt cx="5028316" cy="2848911"/>
          </a:xfrm>
        </p:grpSpPr>
        <p:sp>
          <p:nvSpPr>
            <p:cNvPr name="Freeform 4" id="4"/>
            <p:cNvSpPr/>
            <p:nvPr/>
          </p:nvSpPr>
          <p:spPr>
            <a:xfrm flipH="false" flipV="false" rot="0">
              <a:off x="0" y="0"/>
              <a:ext cx="5028316" cy="2848911"/>
            </a:xfrm>
            <a:custGeom>
              <a:avLst/>
              <a:gdLst/>
              <a:ahLst/>
              <a:cxnLst/>
              <a:rect r="r" b="b" t="t" l="l"/>
              <a:pathLst>
                <a:path h="2848911" w="5028316">
                  <a:moveTo>
                    <a:pt x="18248" y="0"/>
                  </a:moveTo>
                  <a:lnTo>
                    <a:pt x="5010068" y="0"/>
                  </a:lnTo>
                  <a:cubicBezTo>
                    <a:pt x="5020146" y="0"/>
                    <a:pt x="5028316" y="8170"/>
                    <a:pt x="5028316" y="18248"/>
                  </a:cubicBezTo>
                  <a:lnTo>
                    <a:pt x="5028316" y="2830663"/>
                  </a:lnTo>
                  <a:cubicBezTo>
                    <a:pt x="5028316" y="2835502"/>
                    <a:pt x="5026394" y="2840144"/>
                    <a:pt x="5022971" y="2843566"/>
                  </a:cubicBezTo>
                  <a:cubicBezTo>
                    <a:pt x="5019549" y="2846988"/>
                    <a:pt x="5014908" y="2848911"/>
                    <a:pt x="5010068" y="2848911"/>
                  </a:cubicBezTo>
                  <a:lnTo>
                    <a:pt x="18248" y="2848911"/>
                  </a:lnTo>
                  <a:cubicBezTo>
                    <a:pt x="13408" y="2848911"/>
                    <a:pt x="8767" y="2846988"/>
                    <a:pt x="5345" y="2843566"/>
                  </a:cubicBezTo>
                  <a:cubicBezTo>
                    <a:pt x="1923" y="2840144"/>
                    <a:pt x="0" y="2835502"/>
                    <a:pt x="0" y="2830663"/>
                  </a:cubicBezTo>
                  <a:lnTo>
                    <a:pt x="0" y="18248"/>
                  </a:lnTo>
                  <a:cubicBezTo>
                    <a:pt x="0" y="13408"/>
                    <a:pt x="1923" y="8767"/>
                    <a:pt x="5345" y="5345"/>
                  </a:cubicBezTo>
                  <a:cubicBezTo>
                    <a:pt x="8767" y="1923"/>
                    <a:pt x="13408" y="0"/>
                    <a:pt x="18248" y="0"/>
                  </a:cubicBezTo>
                  <a:close/>
                </a:path>
              </a:pathLst>
            </a:custGeom>
            <a:solidFill>
              <a:srgbClr val="0B1F4B"/>
            </a:solidFill>
            <a:ln cap="rnd">
              <a:noFill/>
              <a:prstDash val="solid"/>
              <a:round/>
            </a:ln>
          </p:spPr>
        </p:sp>
        <p:sp>
          <p:nvSpPr>
            <p:cNvPr name="TextBox 5" id="5"/>
            <p:cNvSpPr txBox="true"/>
            <p:nvPr/>
          </p:nvSpPr>
          <p:spPr>
            <a:xfrm>
              <a:off x="0" y="-38100"/>
              <a:ext cx="5028316" cy="2887011"/>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6" id="6"/>
          <p:cNvSpPr/>
          <p:nvPr/>
        </p:nvSpPr>
        <p:spPr>
          <a:xfrm flipH="false" flipV="false" rot="0">
            <a:off x="2690400" y="3321542"/>
            <a:ext cx="12615353" cy="5091196"/>
          </a:xfrm>
          <a:custGeom>
            <a:avLst/>
            <a:gdLst/>
            <a:ahLst/>
            <a:cxnLst/>
            <a:rect r="r" b="b" t="t" l="l"/>
            <a:pathLst>
              <a:path h="5091196" w="12615353">
                <a:moveTo>
                  <a:pt x="0" y="0"/>
                </a:moveTo>
                <a:lnTo>
                  <a:pt x="12615354" y="0"/>
                </a:lnTo>
                <a:lnTo>
                  <a:pt x="12615354" y="5091196"/>
                </a:lnTo>
                <a:lnTo>
                  <a:pt x="0" y="5091196"/>
                </a:lnTo>
                <a:lnTo>
                  <a:pt x="0" y="0"/>
                </a:lnTo>
                <a:close/>
              </a:path>
            </a:pathLst>
          </a:custGeom>
          <a:blipFill>
            <a:blip r:embed="rId2"/>
            <a:stretch>
              <a:fillRect l="0" t="0" r="0" b="0"/>
            </a:stretch>
          </a:blipFill>
        </p:spPr>
      </p:sp>
      <p:grpSp>
        <p:nvGrpSpPr>
          <p:cNvPr name="Group 7" id="7"/>
          <p:cNvGrpSpPr/>
          <p:nvPr/>
        </p:nvGrpSpPr>
        <p:grpSpPr>
          <a:xfrm rot="0">
            <a:off x="1467896" y="1330817"/>
            <a:ext cx="14183155" cy="3981450"/>
            <a:chOff x="0" y="0"/>
            <a:chExt cx="18910874" cy="5308600"/>
          </a:xfrm>
        </p:grpSpPr>
        <p:sp>
          <p:nvSpPr>
            <p:cNvPr name="TextBox 8" id="8"/>
            <p:cNvSpPr txBox="true"/>
            <p:nvPr/>
          </p:nvSpPr>
          <p:spPr>
            <a:xfrm rot="0">
              <a:off x="0" y="-95250"/>
              <a:ext cx="18910874" cy="1712383"/>
            </a:xfrm>
            <a:prstGeom prst="rect">
              <a:avLst/>
            </a:prstGeom>
          </p:spPr>
          <p:txBody>
            <a:bodyPr anchor="t" rtlCol="false" tIns="0" lIns="0" bIns="0" rIns="0">
              <a:spAutoFit/>
            </a:bodyPr>
            <a:lstStyle/>
            <a:p>
              <a:pPr algn="l" marL="0" indent="0" lvl="0">
                <a:lnSpc>
                  <a:spcPts val="10400"/>
                </a:lnSpc>
              </a:pPr>
              <a:r>
                <a:rPr lang="en-US" sz="8000" spc="-240">
                  <a:solidFill>
                    <a:srgbClr val="FFFFFF"/>
                  </a:solidFill>
                  <a:latin typeface="Comfortaa"/>
                  <a:ea typeface="Comfortaa"/>
                  <a:cs typeface="Comfortaa"/>
                  <a:sym typeface="Comfortaa"/>
                </a:rPr>
                <a:t>ReLU layer</a:t>
              </a:r>
            </a:p>
          </p:txBody>
        </p:sp>
        <p:sp>
          <p:nvSpPr>
            <p:cNvPr name="TextBox 9" id="9"/>
            <p:cNvSpPr txBox="true"/>
            <p:nvPr/>
          </p:nvSpPr>
          <p:spPr>
            <a:xfrm rot="0">
              <a:off x="0" y="3949812"/>
              <a:ext cx="17259300" cy="508000"/>
            </a:xfrm>
            <a:prstGeom prst="rect">
              <a:avLst/>
            </a:prstGeom>
          </p:spPr>
          <p:txBody>
            <a:bodyPr anchor="t" rtlCol="false" tIns="0" lIns="0" bIns="0" rIns="0">
              <a:spAutoFit/>
            </a:bodyPr>
            <a:lstStyle/>
            <a:p>
              <a:pPr algn="l" marL="0" indent="0" lvl="0">
                <a:lnSpc>
                  <a:spcPts val="3000"/>
                </a:lnSpc>
                <a:spcBef>
                  <a:spcPct val="0"/>
                </a:spcBef>
              </a:pPr>
            </a:p>
          </p:txBody>
        </p:sp>
        <p:sp>
          <p:nvSpPr>
            <p:cNvPr name="TextBox 10" id="10"/>
            <p:cNvSpPr txBox="true"/>
            <p:nvPr/>
          </p:nvSpPr>
          <p:spPr>
            <a:xfrm rot="0">
              <a:off x="0" y="4770966"/>
              <a:ext cx="13512134" cy="537634"/>
            </a:xfrm>
            <a:prstGeom prst="rect">
              <a:avLst/>
            </a:prstGeom>
          </p:spPr>
          <p:txBody>
            <a:bodyPr anchor="t" rtlCol="false" tIns="0" lIns="0" bIns="0" rIns="0">
              <a:spAutoFit/>
            </a:bodyPr>
            <a:lstStyle/>
            <a:p>
              <a:pPr algn="l" marL="0" indent="0" lvl="0">
                <a:lnSpc>
                  <a:spcPts val="3499"/>
                </a:lnSpc>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20351253" cy="10287000"/>
            <a:chOff x="0" y="0"/>
            <a:chExt cx="5360001" cy="2709333"/>
          </a:xfrm>
        </p:grpSpPr>
        <p:sp>
          <p:nvSpPr>
            <p:cNvPr name="Freeform 3" id="3"/>
            <p:cNvSpPr/>
            <p:nvPr/>
          </p:nvSpPr>
          <p:spPr>
            <a:xfrm flipH="false" flipV="false" rot="0">
              <a:off x="0" y="0"/>
              <a:ext cx="5360001" cy="2709333"/>
            </a:xfrm>
            <a:custGeom>
              <a:avLst/>
              <a:gdLst/>
              <a:ahLst/>
              <a:cxnLst/>
              <a:rect r="r" b="b" t="t" l="l"/>
              <a:pathLst>
                <a:path h="2709333" w="5360001">
                  <a:moveTo>
                    <a:pt x="0" y="0"/>
                  </a:moveTo>
                  <a:lnTo>
                    <a:pt x="5360001" y="0"/>
                  </a:lnTo>
                  <a:lnTo>
                    <a:pt x="5360001" y="2709333"/>
                  </a:lnTo>
                  <a:lnTo>
                    <a:pt x="0" y="2709333"/>
                  </a:lnTo>
                  <a:close/>
                </a:path>
              </a:pathLst>
            </a:custGeom>
            <a:solidFill>
              <a:srgbClr val="0B1F4B"/>
            </a:solidFill>
            <a:ln cap="sq">
              <a:noFill/>
              <a:prstDash val="solid"/>
              <a:miter/>
            </a:ln>
          </p:spPr>
        </p:sp>
        <p:sp>
          <p:nvSpPr>
            <p:cNvPr name="TextBox 4" id="4"/>
            <p:cNvSpPr txBox="true"/>
            <p:nvPr/>
          </p:nvSpPr>
          <p:spPr>
            <a:xfrm>
              <a:off x="0" y="-38100"/>
              <a:ext cx="5360001" cy="2747433"/>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1028700" y="2313851"/>
            <a:ext cx="7435282" cy="7231360"/>
          </a:xfrm>
          <a:custGeom>
            <a:avLst/>
            <a:gdLst/>
            <a:ahLst/>
            <a:cxnLst/>
            <a:rect r="r" b="b" t="t" l="l"/>
            <a:pathLst>
              <a:path h="7231360" w="7435282">
                <a:moveTo>
                  <a:pt x="0" y="0"/>
                </a:moveTo>
                <a:lnTo>
                  <a:pt x="7435282" y="0"/>
                </a:lnTo>
                <a:lnTo>
                  <a:pt x="7435282" y="7231360"/>
                </a:lnTo>
                <a:lnTo>
                  <a:pt x="0" y="7231360"/>
                </a:lnTo>
                <a:lnTo>
                  <a:pt x="0" y="0"/>
                </a:lnTo>
                <a:close/>
              </a:path>
            </a:pathLst>
          </a:custGeom>
          <a:blipFill>
            <a:blip r:embed="rId2"/>
            <a:stretch>
              <a:fillRect l="0" t="0" r="0" b="0"/>
            </a:stretch>
          </a:blipFill>
        </p:spPr>
      </p:sp>
      <p:sp>
        <p:nvSpPr>
          <p:cNvPr name="Freeform 6" id="6"/>
          <p:cNvSpPr/>
          <p:nvPr/>
        </p:nvSpPr>
        <p:spPr>
          <a:xfrm flipH="false" flipV="false" rot="0">
            <a:off x="9144000" y="2313851"/>
            <a:ext cx="8375006" cy="7231360"/>
          </a:xfrm>
          <a:custGeom>
            <a:avLst/>
            <a:gdLst/>
            <a:ahLst/>
            <a:cxnLst/>
            <a:rect r="r" b="b" t="t" l="l"/>
            <a:pathLst>
              <a:path h="7231360" w="8375006">
                <a:moveTo>
                  <a:pt x="0" y="0"/>
                </a:moveTo>
                <a:lnTo>
                  <a:pt x="8375006" y="0"/>
                </a:lnTo>
                <a:lnTo>
                  <a:pt x="8375006" y="7231360"/>
                </a:lnTo>
                <a:lnTo>
                  <a:pt x="0" y="7231360"/>
                </a:lnTo>
                <a:lnTo>
                  <a:pt x="0" y="0"/>
                </a:lnTo>
                <a:close/>
              </a:path>
            </a:pathLst>
          </a:custGeom>
          <a:blipFill>
            <a:blip r:embed="rId3"/>
            <a:stretch>
              <a:fillRect l="0" t="0" r="0" b="0"/>
            </a:stretch>
          </a:blipFill>
        </p:spPr>
      </p:sp>
      <p:sp>
        <p:nvSpPr>
          <p:cNvPr name="TextBox 7" id="7"/>
          <p:cNvSpPr txBox="true"/>
          <p:nvPr/>
        </p:nvSpPr>
        <p:spPr>
          <a:xfrm rot="0">
            <a:off x="1028700" y="800100"/>
            <a:ext cx="14195693" cy="1079501"/>
          </a:xfrm>
          <a:prstGeom prst="rect">
            <a:avLst/>
          </a:prstGeom>
        </p:spPr>
        <p:txBody>
          <a:bodyPr anchor="t" rtlCol="false" tIns="0" lIns="0" bIns="0" rIns="0">
            <a:spAutoFit/>
          </a:bodyPr>
          <a:lstStyle/>
          <a:p>
            <a:pPr algn="l" marL="0" indent="0" lvl="0">
              <a:lnSpc>
                <a:spcPts val="8000"/>
              </a:lnSpc>
            </a:pPr>
            <a:r>
              <a:rPr lang="en-US" sz="8000">
                <a:solidFill>
                  <a:srgbClr val="FFFFFF"/>
                </a:solidFill>
                <a:latin typeface="Comfortaa"/>
                <a:ea typeface="Comfortaa"/>
                <a:cs typeface="Comfortaa"/>
                <a:sym typeface="Comfortaa"/>
              </a:rPr>
              <a:t>Layer Pooling (MaxPool2D)</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20351253" cy="10287000"/>
            <a:chOff x="0" y="0"/>
            <a:chExt cx="5360001" cy="2709333"/>
          </a:xfrm>
        </p:grpSpPr>
        <p:sp>
          <p:nvSpPr>
            <p:cNvPr name="Freeform 3" id="3"/>
            <p:cNvSpPr/>
            <p:nvPr/>
          </p:nvSpPr>
          <p:spPr>
            <a:xfrm flipH="false" flipV="false" rot="0">
              <a:off x="0" y="0"/>
              <a:ext cx="5360001" cy="2709333"/>
            </a:xfrm>
            <a:custGeom>
              <a:avLst/>
              <a:gdLst/>
              <a:ahLst/>
              <a:cxnLst/>
              <a:rect r="r" b="b" t="t" l="l"/>
              <a:pathLst>
                <a:path h="2709333" w="5360001">
                  <a:moveTo>
                    <a:pt x="0" y="0"/>
                  </a:moveTo>
                  <a:lnTo>
                    <a:pt x="5360001" y="0"/>
                  </a:lnTo>
                  <a:lnTo>
                    <a:pt x="5360001" y="2709333"/>
                  </a:lnTo>
                  <a:lnTo>
                    <a:pt x="0" y="2709333"/>
                  </a:lnTo>
                  <a:close/>
                </a:path>
              </a:pathLst>
            </a:custGeom>
            <a:solidFill>
              <a:srgbClr val="0B1F4B"/>
            </a:solidFill>
            <a:ln cap="sq">
              <a:noFill/>
              <a:prstDash val="solid"/>
              <a:miter/>
            </a:ln>
          </p:spPr>
        </p:sp>
        <p:sp>
          <p:nvSpPr>
            <p:cNvPr name="TextBox 4" id="4"/>
            <p:cNvSpPr txBox="true"/>
            <p:nvPr/>
          </p:nvSpPr>
          <p:spPr>
            <a:xfrm>
              <a:off x="0" y="-38100"/>
              <a:ext cx="5360001" cy="2747433"/>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2990405" y="3166755"/>
            <a:ext cx="12307190" cy="3953489"/>
          </a:xfrm>
          <a:custGeom>
            <a:avLst/>
            <a:gdLst/>
            <a:ahLst/>
            <a:cxnLst/>
            <a:rect r="r" b="b" t="t" l="l"/>
            <a:pathLst>
              <a:path h="3953489" w="12307190">
                <a:moveTo>
                  <a:pt x="0" y="0"/>
                </a:moveTo>
                <a:lnTo>
                  <a:pt x="12307190" y="0"/>
                </a:lnTo>
                <a:lnTo>
                  <a:pt x="12307190" y="3953490"/>
                </a:lnTo>
                <a:lnTo>
                  <a:pt x="0" y="3953490"/>
                </a:lnTo>
                <a:lnTo>
                  <a:pt x="0" y="0"/>
                </a:lnTo>
                <a:close/>
              </a:path>
            </a:pathLst>
          </a:custGeom>
          <a:blipFill>
            <a:blip r:embed="rId2"/>
            <a:stretch>
              <a:fillRect l="0" t="0" r="0" b="0"/>
            </a:stretch>
          </a:blipFill>
        </p:spPr>
      </p:sp>
      <p:sp>
        <p:nvSpPr>
          <p:cNvPr name="TextBox 6" id="6"/>
          <p:cNvSpPr txBox="true"/>
          <p:nvPr/>
        </p:nvSpPr>
        <p:spPr>
          <a:xfrm rot="0">
            <a:off x="1028700" y="800100"/>
            <a:ext cx="14195693" cy="1079501"/>
          </a:xfrm>
          <a:prstGeom prst="rect">
            <a:avLst/>
          </a:prstGeom>
        </p:spPr>
        <p:txBody>
          <a:bodyPr anchor="t" rtlCol="false" tIns="0" lIns="0" bIns="0" rIns="0">
            <a:spAutoFit/>
          </a:bodyPr>
          <a:lstStyle/>
          <a:p>
            <a:pPr algn="l" marL="0" indent="0" lvl="0">
              <a:lnSpc>
                <a:spcPts val="8000"/>
              </a:lnSpc>
            </a:pPr>
            <a:r>
              <a:rPr lang="en-US" sz="8000">
                <a:solidFill>
                  <a:srgbClr val="FFFFFF"/>
                </a:solidFill>
                <a:latin typeface="Comfortaa"/>
                <a:ea typeface="Comfortaa"/>
                <a:cs typeface="Comfortaa"/>
                <a:sym typeface="Comfortaa"/>
              </a:rPr>
              <a:t>Flatten layer</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B1F4B"/>
        </a:solidFill>
      </p:bgPr>
    </p:bg>
    <p:spTree>
      <p:nvGrpSpPr>
        <p:cNvPr id="1" name=""/>
        <p:cNvGrpSpPr/>
        <p:nvPr/>
      </p:nvGrpSpPr>
      <p:grpSpPr>
        <a:xfrm>
          <a:off x="0" y="0"/>
          <a:ext cx="0" cy="0"/>
          <a:chOff x="0" y="0"/>
          <a:chExt cx="0" cy="0"/>
        </a:xfrm>
      </p:grpSpPr>
      <p:grpSp>
        <p:nvGrpSpPr>
          <p:cNvPr name="Group 2" id="2"/>
          <p:cNvGrpSpPr/>
          <p:nvPr/>
        </p:nvGrpSpPr>
        <p:grpSpPr>
          <a:xfrm rot="0">
            <a:off x="0" y="0"/>
            <a:ext cx="7219147" cy="10287000"/>
            <a:chOff x="0" y="0"/>
            <a:chExt cx="1901339" cy="2709333"/>
          </a:xfrm>
        </p:grpSpPr>
        <p:sp>
          <p:nvSpPr>
            <p:cNvPr name="Freeform 3" id="3"/>
            <p:cNvSpPr/>
            <p:nvPr/>
          </p:nvSpPr>
          <p:spPr>
            <a:xfrm flipH="false" flipV="false" rot="0">
              <a:off x="0" y="0"/>
              <a:ext cx="1901339" cy="2709333"/>
            </a:xfrm>
            <a:custGeom>
              <a:avLst/>
              <a:gdLst/>
              <a:ahLst/>
              <a:cxnLst/>
              <a:rect r="r" b="b" t="t" l="l"/>
              <a:pathLst>
                <a:path h="2709333" w="1901339">
                  <a:moveTo>
                    <a:pt x="0" y="0"/>
                  </a:moveTo>
                  <a:lnTo>
                    <a:pt x="1901339" y="0"/>
                  </a:lnTo>
                  <a:lnTo>
                    <a:pt x="1901339" y="2709333"/>
                  </a:lnTo>
                  <a:lnTo>
                    <a:pt x="0" y="2709333"/>
                  </a:lnTo>
                  <a:close/>
                </a:path>
              </a:pathLst>
            </a:custGeom>
            <a:solidFill>
              <a:srgbClr val="4B2C83"/>
            </a:solidFill>
            <a:ln cap="sq">
              <a:noFill/>
              <a:prstDash val="solid"/>
              <a:miter/>
            </a:ln>
          </p:spPr>
        </p:sp>
        <p:sp>
          <p:nvSpPr>
            <p:cNvPr name="TextBox 4" id="4"/>
            <p:cNvSpPr txBox="true"/>
            <p:nvPr/>
          </p:nvSpPr>
          <p:spPr>
            <a:xfrm>
              <a:off x="0" y="-38100"/>
              <a:ext cx="1901339" cy="2747433"/>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8300970" y="949087"/>
            <a:ext cx="8662189" cy="8388826"/>
          </a:xfrm>
          <a:custGeom>
            <a:avLst/>
            <a:gdLst/>
            <a:ahLst/>
            <a:cxnLst/>
            <a:rect r="r" b="b" t="t" l="l"/>
            <a:pathLst>
              <a:path h="8388826" w="8662189">
                <a:moveTo>
                  <a:pt x="0" y="0"/>
                </a:moveTo>
                <a:lnTo>
                  <a:pt x="8662190" y="0"/>
                </a:lnTo>
                <a:lnTo>
                  <a:pt x="8662190" y="8388826"/>
                </a:lnTo>
                <a:lnTo>
                  <a:pt x="0" y="8388826"/>
                </a:lnTo>
                <a:lnTo>
                  <a:pt x="0" y="0"/>
                </a:lnTo>
                <a:close/>
              </a:path>
            </a:pathLst>
          </a:custGeom>
          <a:blipFill>
            <a:blip r:embed="rId2"/>
            <a:stretch>
              <a:fillRect l="0" t="0" r="0" b="0"/>
            </a:stretch>
          </a:blipFill>
        </p:spPr>
      </p:sp>
      <p:sp>
        <p:nvSpPr>
          <p:cNvPr name="TextBox 6" id="6"/>
          <p:cNvSpPr txBox="true"/>
          <p:nvPr/>
        </p:nvSpPr>
        <p:spPr>
          <a:xfrm rot="0">
            <a:off x="708153" y="1031399"/>
            <a:ext cx="6274278" cy="3558231"/>
          </a:xfrm>
          <a:prstGeom prst="rect">
            <a:avLst/>
          </a:prstGeom>
        </p:spPr>
        <p:txBody>
          <a:bodyPr anchor="t" rtlCol="false" tIns="0" lIns="0" bIns="0" rIns="0">
            <a:spAutoFit/>
          </a:bodyPr>
          <a:lstStyle/>
          <a:p>
            <a:pPr algn="l" marL="0" indent="0" lvl="0">
              <a:lnSpc>
                <a:spcPts val="9212"/>
              </a:lnSpc>
            </a:pPr>
            <a:r>
              <a:rPr lang="en-US" sz="9212">
                <a:solidFill>
                  <a:srgbClr val="FFFFFF"/>
                </a:solidFill>
                <a:latin typeface="Comfortaa"/>
                <a:ea typeface="Comfortaa"/>
                <a:cs typeface="Comfortaa"/>
                <a:sym typeface="Comfortaa"/>
              </a:rPr>
              <a:t>Dense Layer (Dense)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4B2C83"/>
        </a:solidFill>
      </p:bgPr>
    </p:bg>
    <p:spTree>
      <p:nvGrpSpPr>
        <p:cNvPr id="1" name=""/>
        <p:cNvGrpSpPr/>
        <p:nvPr/>
      </p:nvGrpSpPr>
      <p:grpSpPr>
        <a:xfrm>
          <a:off x="0" y="0"/>
          <a:ext cx="0" cy="0"/>
          <a:chOff x="0" y="0"/>
          <a:chExt cx="0" cy="0"/>
        </a:xfrm>
      </p:grpSpPr>
      <p:sp>
        <p:nvSpPr>
          <p:cNvPr name="Freeform 2" id="2"/>
          <p:cNvSpPr/>
          <p:nvPr/>
        </p:nvSpPr>
        <p:spPr>
          <a:xfrm flipH="false" flipV="false" rot="0">
            <a:off x="9753082" y="261039"/>
            <a:ext cx="7320257" cy="9764921"/>
          </a:xfrm>
          <a:custGeom>
            <a:avLst/>
            <a:gdLst/>
            <a:ahLst/>
            <a:cxnLst/>
            <a:rect r="r" b="b" t="t" l="l"/>
            <a:pathLst>
              <a:path h="9764921" w="7320257">
                <a:moveTo>
                  <a:pt x="0" y="0"/>
                </a:moveTo>
                <a:lnTo>
                  <a:pt x="7320257" y="0"/>
                </a:lnTo>
                <a:lnTo>
                  <a:pt x="7320257" y="9764922"/>
                </a:lnTo>
                <a:lnTo>
                  <a:pt x="0" y="9764922"/>
                </a:lnTo>
                <a:lnTo>
                  <a:pt x="0" y="0"/>
                </a:lnTo>
                <a:close/>
              </a:path>
            </a:pathLst>
          </a:custGeom>
          <a:blipFill>
            <a:blip r:embed="rId2"/>
            <a:stretch>
              <a:fillRect l="0" t="0" r="0" b="0"/>
            </a:stretch>
          </a:blipFill>
        </p:spPr>
      </p:sp>
      <p:sp>
        <p:nvSpPr>
          <p:cNvPr name="TextBox 3" id="3"/>
          <p:cNvSpPr txBox="true"/>
          <p:nvPr/>
        </p:nvSpPr>
        <p:spPr>
          <a:xfrm rot="0">
            <a:off x="1345520" y="1707449"/>
            <a:ext cx="6634350" cy="2656788"/>
          </a:xfrm>
          <a:prstGeom prst="rect">
            <a:avLst/>
          </a:prstGeom>
        </p:spPr>
        <p:txBody>
          <a:bodyPr anchor="t" rtlCol="false" tIns="0" lIns="0" bIns="0" rIns="0">
            <a:spAutoFit/>
          </a:bodyPr>
          <a:lstStyle/>
          <a:p>
            <a:pPr algn="l" marL="0" indent="0" lvl="0">
              <a:lnSpc>
                <a:spcPts val="10356"/>
              </a:lnSpc>
            </a:pPr>
            <a:r>
              <a:rPr lang="en-US" sz="9414" spc="-282">
                <a:solidFill>
                  <a:srgbClr val="FFFFFF"/>
                </a:solidFill>
                <a:latin typeface="Comfortaa"/>
                <a:ea typeface="Comfortaa"/>
                <a:cs typeface="Comfortaa"/>
                <a:sym typeface="Comfortaa"/>
              </a:rPr>
              <a:t>Thuật toán huấn luyện</a:t>
            </a:r>
          </a:p>
        </p:txBody>
      </p:sp>
      <p:sp>
        <p:nvSpPr>
          <p:cNvPr name="TextBox 4" id="4"/>
          <p:cNvSpPr txBox="true"/>
          <p:nvPr/>
        </p:nvSpPr>
        <p:spPr>
          <a:xfrm rot="0">
            <a:off x="1345520" y="4932114"/>
            <a:ext cx="6634350" cy="2469140"/>
          </a:xfrm>
          <a:prstGeom prst="rect">
            <a:avLst/>
          </a:prstGeom>
        </p:spPr>
        <p:txBody>
          <a:bodyPr anchor="t" rtlCol="false" tIns="0" lIns="0" bIns="0" rIns="0">
            <a:spAutoFit/>
          </a:bodyPr>
          <a:lstStyle/>
          <a:p>
            <a:pPr algn="just" marL="0" indent="0" lvl="0">
              <a:lnSpc>
                <a:spcPts val="3766"/>
              </a:lnSpc>
              <a:spcBef>
                <a:spcPct val="0"/>
              </a:spcBef>
            </a:pPr>
            <a:r>
              <a:rPr lang="en-US" sz="2690" spc="-40" strike="noStrike" u="none">
                <a:solidFill>
                  <a:srgbClr val="FFFFFF"/>
                </a:solidFill>
                <a:latin typeface="Helvetica World"/>
                <a:ea typeface="Helvetica World"/>
                <a:cs typeface="Helvetica World"/>
                <a:sym typeface="Helvetica World"/>
              </a:rPr>
              <a:t>Hệ thống học sâu sử dụng </a:t>
            </a:r>
            <a:r>
              <a:rPr lang="en-US" b="true" sz="2690" spc="-40" strike="noStrike" u="none">
                <a:solidFill>
                  <a:srgbClr val="FFFFFF"/>
                </a:solidFill>
                <a:latin typeface="Helvetica World Bold"/>
                <a:ea typeface="Helvetica World Bold"/>
                <a:cs typeface="Helvetica World Bold"/>
                <a:sym typeface="Helvetica World Bold"/>
              </a:rPr>
              <a:t>softmax cross-entropy loss</a:t>
            </a:r>
            <a:r>
              <a:rPr lang="en-US" sz="2690" spc="-40" strike="noStrike" u="none">
                <a:solidFill>
                  <a:srgbClr val="FFFFFF"/>
                </a:solidFill>
                <a:latin typeface="Helvetica World"/>
                <a:ea typeface="Helvetica World"/>
                <a:cs typeface="Helvetica World"/>
                <a:sym typeface="Helvetica World"/>
              </a:rPr>
              <a:t> để tối ưu hóa hiệu suất, kết hợp với </a:t>
            </a:r>
            <a:r>
              <a:rPr lang="en-US" b="true" sz="2690" spc="-40" strike="noStrike" u="none">
                <a:solidFill>
                  <a:srgbClr val="FFFFFF"/>
                </a:solidFill>
                <a:latin typeface="Helvetica World Bold"/>
                <a:ea typeface="Helvetica World Bold"/>
                <a:cs typeface="Helvetica World Bold"/>
                <a:sym typeface="Helvetica World Bold"/>
              </a:rPr>
              <a:t>gradient descent</a:t>
            </a:r>
            <a:r>
              <a:rPr lang="en-US" sz="2690" spc="-40" strike="noStrike" u="none">
                <a:solidFill>
                  <a:srgbClr val="FFFFFF"/>
                </a:solidFill>
                <a:latin typeface="Helvetica World"/>
                <a:ea typeface="Helvetica World"/>
                <a:cs typeface="Helvetica World"/>
                <a:sym typeface="Helvetica World"/>
              </a:rPr>
              <a:t> nhằm giảm thiểu sai số qua từng bước huấn luyện, tạo ra mô hình chính xác hơn.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B1F4B"/>
            </a:solidFill>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800"/>
                </a:lnSpc>
              </a:pPr>
            </a:p>
          </p:txBody>
        </p:sp>
      </p:grpSp>
      <p:sp>
        <p:nvSpPr>
          <p:cNvPr name="Freeform 5" id="5"/>
          <p:cNvSpPr/>
          <p:nvPr/>
        </p:nvSpPr>
        <p:spPr>
          <a:xfrm flipH="false" flipV="false" rot="0">
            <a:off x="1261661" y="4086226"/>
            <a:ext cx="15997639" cy="3679457"/>
          </a:xfrm>
          <a:custGeom>
            <a:avLst/>
            <a:gdLst/>
            <a:ahLst/>
            <a:cxnLst/>
            <a:rect r="r" b="b" t="t" l="l"/>
            <a:pathLst>
              <a:path h="3679457" w="15997639">
                <a:moveTo>
                  <a:pt x="0" y="0"/>
                </a:moveTo>
                <a:lnTo>
                  <a:pt x="15997639" y="0"/>
                </a:lnTo>
                <a:lnTo>
                  <a:pt x="15997639" y="3679457"/>
                </a:lnTo>
                <a:lnTo>
                  <a:pt x="0" y="3679457"/>
                </a:lnTo>
                <a:lnTo>
                  <a:pt x="0" y="0"/>
                </a:lnTo>
                <a:close/>
              </a:path>
            </a:pathLst>
          </a:custGeom>
          <a:blipFill>
            <a:blip r:embed="rId2"/>
            <a:stretch>
              <a:fillRect l="0" t="0" r="0" b="0"/>
            </a:stretch>
          </a:blipFill>
        </p:spPr>
      </p:sp>
      <p:sp>
        <p:nvSpPr>
          <p:cNvPr name="TextBox 6" id="6"/>
          <p:cNvSpPr txBox="true"/>
          <p:nvPr/>
        </p:nvSpPr>
        <p:spPr>
          <a:xfrm rot="0">
            <a:off x="1028700" y="1944866"/>
            <a:ext cx="16954500" cy="1079501"/>
          </a:xfrm>
          <a:prstGeom prst="rect">
            <a:avLst/>
          </a:prstGeom>
        </p:spPr>
        <p:txBody>
          <a:bodyPr anchor="t" rtlCol="false" tIns="0" lIns="0" bIns="0" rIns="0">
            <a:spAutoFit/>
          </a:bodyPr>
          <a:lstStyle/>
          <a:p>
            <a:pPr algn="l" marL="0" indent="0" lvl="0">
              <a:lnSpc>
                <a:spcPts val="8000"/>
              </a:lnSpc>
            </a:pPr>
            <a:r>
              <a:rPr lang="en-US" sz="8000" spc="-240">
                <a:solidFill>
                  <a:srgbClr val="FFFFFF"/>
                </a:solidFill>
                <a:latin typeface="Comfortaa"/>
                <a:ea typeface="Comfortaa"/>
                <a:cs typeface="Comfortaa"/>
                <a:sym typeface="Comfortaa"/>
              </a:rPr>
              <a:t>Kết quả huấn luyện mô hình</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B1F4B"/>
        </a:solidFill>
      </p:bgPr>
    </p:bg>
    <p:spTree>
      <p:nvGrpSpPr>
        <p:cNvPr id="1" name=""/>
        <p:cNvGrpSpPr/>
        <p:nvPr/>
      </p:nvGrpSpPr>
      <p:grpSpPr>
        <a:xfrm>
          <a:off x="0" y="0"/>
          <a:ext cx="0" cy="0"/>
          <a:chOff x="0" y="0"/>
          <a:chExt cx="0" cy="0"/>
        </a:xfrm>
      </p:grpSpPr>
      <p:grpSp>
        <p:nvGrpSpPr>
          <p:cNvPr name="Group 2" id="2"/>
          <p:cNvGrpSpPr/>
          <p:nvPr/>
        </p:nvGrpSpPr>
        <p:grpSpPr>
          <a:xfrm rot="0">
            <a:off x="9296400" y="0"/>
            <a:ext cx="8991600" cy="3352800"/>
            <a:chOff x="0" y="0"/>
            <a:chExt cx="2368158" cy="883042"/>
          </a:xfrm>
        </p:grpSpPr>
        <p:sp>
          <p:nvSpPr>
            <p:cNvPr name="Freeform 3" id="3"/>
            <p:cNvSpPr/>
            <p:nvPr/>
          </p:nvSpPr>
          <p:spPr>
            <a:xfrm flipH="false" flipV="false" rot="0">
              <a:off x="0" y="0"/>
              <a:ext cx="2368158" cy="883042"/>
            </a:xfrm>
            <a:custGeom>
              <a:avLst/>
              <a:gdLst/>
              <a:ahLst/>
              <a:cxnLst/>
              <a:rect r="r" b="b" t="t" l="l"/>
              <a:pathLst>
                <a:path h="883042" w="2368158">
                  <a:moveTo>
                    <a:pt x="0" y="0"/>
                  </a:moveTo>
                  <a:lnTo>
                    <a:pt x="2368158" y="0"/>
                  </a:lnTo>
                  <a:lnTo>
                    <a:pt x="2368158" y="883042"/>
                  </a:lnTo>
                  <a:lnTo>
                    <a:pt x="0" y="883042"/>
                  </a:lnTo>
                  <a:close/>
                </a:path>
              </a:pathLst>
            </a:custGeom>
            <a:solidFill>
              <a:srgbClr val="0B1F4B"/>
            </a:solidFill>
          </p:spPr>
        </p:sp>
        <p:sp>
          <p:nvSpPr>
            <p:cNvPr name="TextBox 4" id="4"/>
            <p:cNvSpPr txBox="true"/>
            <p:nvPr/>
          </p:nvSpPr>
          <p:spPr>
            <a:xfrm>
              <a:off x="0" y="-38100"/>
              <a:ext cx="2368158" cy="921142"/>
            </a:xfrm>
            <a:prstGeom prst="rect">
              <a:avLst/>
            </a:prstGeom>
          </p:spPr>
          <p:txBody>
            <a:bodyPr anchor="ctr" rtlCol="false" tIns="50800" lIns="50800" bIns="50800" rIns="50800"/>
            <a:lstStyle/>
            <a:p>
              <a:pPr algn="ctr">
                <a:lnSpc>
                  <a:spcPts val="2800"/>
                </a:lnSpc>
              </a:pPr>
            </a:p>
          </p:txBody>
        </p:sp>
      </p:grpSp>
      <p:sp>
        <p:nvSpPr>
          <p:cNvPr name="Freeform 5" id="5"/>
          <p:cNvSpPr/>
          <p:nvPr/>
        </p:nvSpPr>
        <p:spPr>
          <a:xfrm flipH="false" flipV="false" rot="0">
            <a:off x="2534001" y="2044251"/>
            <a:ext cx="5912241" cy="7839072"/>
          </a:xfrm>
          <a:custGeom>
            <a:avLst/>
            <a:gdLst/>
            <a:ahLst/>
            <a:cxnLst/>
            <a:rect r="r" b="b" t="t" l="l"/>
            <a:pathLst>
              <a:path h="7839072" w="5912241">
                <a:moveTo>
                  <a:pt x="0" y="0"/>
                </a:moveTo>
                <a:lnTo>
                  <a:pt x="5912242" y="0"/>
                </a:lnTo>
                <a:lnTo>
                  <a:pt x="5912242" y="7839073"/>
                </a:lnTo>
                <a:lnTo>
                  <a:pt x="0" y="7839073"/>
                </a:lnTo>
                <a:lnTo>
                  <a:pt x="0" y="0"/>
                </a:lnTo>
                <a:close/>
              </a:path>
            </a:pathLst>
          </a:custGeom>
          <a:blipFill>
            <a:blip r:embed="rId2"/>
            <a:stretch>
              <a:fillRect l="0" t="0" r="0" b="0"/>
            </a:stretch>
          </a:blipFill>
        </p:spPr>
      </p:sp>
      <p:sp>
        <p:nvSpPr>
          <p:cNvPr name="Freeform 6" id="6"/>
          <p:cNvSpPr/>
          <p:nvPr/>
        </p:nvSpPr>
        <p:spPr>
          <a:xfrm flipH="false" flipV="false" rot="0">
            <a:off x="9865753" y="2044251"/>
            <a:ext cx="5821905" cy="7839072"/>
          </a:xfrm>
          <a:custGeom>
            <a:avLst/>
            <a:gdLst/>
            <a:ahLst/>
            <a:cxnLst/>
            <a:rect r="r" b="b" t="t" l="l"/>
            <a:pathLst>
              <a:path h="7839072" w="5821905">
                <a:moveTo>
                  <a:pt x="0" y="0"/>
                </a:moveTo>
                <a:lnTo>
                  <a:pt x="5821905" y="0"/>
                </a:lnTo>
                <a:lnTo>
                  <a:pt x="5821905" y="7839073"/>
                </a:lnTo>
                <a:lnTo>
                  <a:pt x="0" y="7839073"/>
                </a:lnTo>
                <a:lnTo>
                  <a:pt x="0" y="0"/>
                </a:lnTo>
                <a:close/>
              </a:path>
            </a:pathLst>
          </a:custGeom>
          <a:blipFill>
            <a:blip r:embed="rId3"/>
            <a:stretch>
              <a:fillRect l="0" t="0" r="0" b="0"/>
            </a:stretch>
          </a:blipFill>
        </p:spPr>
      </p:sp>
      <p:sp>
        <p:nvSpPr>
          <p:cNvPr name="TextBox 7" id="7"/>
          <p:cNvSpPr txBox="true"/>
          <p:nvPr/>
        </p:nvSpPr>
        <p:spPr>
          <a:xfrm rot="0">
            <a:off x="575169" y="555625"/>
            <a:ext cx="8122923" cy="1079501"/>
          </a:xfrm>
          <a:prstGeom prst="rect">
            <a:avLst/>
          </a:prstGeom>
        </p:spPr>
        <p:txBody>
          <a:bodyPr anchor="t" rtlCol="false" tIns="0" lIns="0" bIns="0" rIns="0">
            <a:spAutoFit/>
          </a:bodyPr>
          <a:lstStyle/>
          <a:p>
            <a:pPr algn="l" marL="0" indent="0" lvl="0">
              <a:lnSpc>
                <a:spcPts val="8000"/>
              </a:lnSpc>
              <a:spcBef>
                <a:spcPct val="0"/>
              </a:spcBef>
            </a:pPr>
            <a:r>
              <a:rPr lang="en-US" sz="8000" strike="noStrike" u="none">
                <a:solidFill>
                  <a:srgbClr val="FFFFFF"/>
                </a:solidFill>
                <a:latin typeface="Comfortaa"/>
                <a:ea typeface="Comfortaa"/>
                <a:cs typeface="Comfortaa"/>
                <a:sym typeface="Comfortaa"/>
              </a:rPr>
              <a:t>Giao diện tool</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4B2C83"/>
        </a:solidFill>
      </p:bgPr>
    </p:bg>
    <p:spTree>
      <p:nvGrpSpPr>
        <p:cNvPr id="1" name=""/>
        <p:cNvGrpSpPr/>
        <p:nvPr/>
      </p:nvGrpSpPr>
      <p:grpSpPr>
        <a:xfrm>
          <a:off x="0" y="0"/>
          <a:ext cx="0" cy="0"/>
          <a:chOff x="0" y="0"/>
          <a:chExt cx="0" cy="0"/>
        </a:xfrm>
      </p:grpSpPr>
      <p:sp>
        <p:nvSpPr>
          <p:cNvPr name="TextBox 2" id="2"/>
          <p:cNvSpPr txBox="true"/>
          <p:nvPr/>
        </p:nvSpPr>
        <p:spPr>
          <a:xfrm rot="0">
            <a:off x="17259300" y="9220200"/>
            <a:ext cx="152400" cy="190500"/>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Helvetica World"/>
                <a:ea typeface="Helvetica World"/>
                <a:cs typeface="Helvetica World"/>
                <a:sym typeface="Helvetica World"/>
              </a:rPr>
              <a:t>18</a:t>
            </a:r>
          </a:p>
        </p:txBody>
      </p:sp>
      <p:grpSp>
        <p:nvGrpSpPr>
          <p:cNvPr name="Group 3" id="3"/>
          <p:cNvGrpSpPr/>
          <p:nvPr/>
        </p:nvGrpSpPr>
        <p:grpSpPr>
          <a:xfrm rot="0">
            <a:off x="666750" y="666750"/>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0B1F4B"/>
            </a:solidFill>
            <a:ln cap="rnd">
              <a:noFill/>
              <a:prstDash val="solid"/>
              <a:round/>
            </a:ln>
          </p:spPr>
        </p:sp>
        <p:sp>
          <p:nvSpPr>
            <p:cNvPr name="TextBox 5" id="5"/>
            <p:cNvSpPr txBox="true"/>
            <p:nvPr/>
          </p:nvSpPr>
          <p:spPr>
            <a:xfrm>
              <a:off x="0" y="-38100"/>
              <a:ext cx="4465383" cy="2396223"/>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6" id="6"/>
          <p:cNvGrpSpPr/>
          <p:nvPr/>
        </p:nvGrpSpPr>
        <p:grpSpPr>
          <a:xfrm rot="0">
            <a:off x="1517749" y="2248960"/>
            <a:ext cx="15741551" cy="4308945"/>
            <a:chOff x="0" y="0"/>
            <a:chExt cx="20988734" cy="5745261"/>
          </a:xfrm>
        </p:grpSpPr>
        <p:sp>
          <p:nvSpPr>
            <p:cNvPr name="TextBox 7" id="7"/>
            <p:cNvSpPr txBox="true"/>
            <p:nvPr/>
          </p:nvSpPr>
          <p:spPr>
            <a:xfrm rot="0">
              <a:off x="0" y="-104775"/>
              <a:ext cx="20988734" cy="2071342"/>
            </a:xfrm>
            <a:prstGeom prst="rect">
              <a:avLst/>
            </a:prstGeom>
          </p:spPr>
          <p:txBody>
            <a:bodyPr anchor="t" rtlCol="false" tIns="0" lIns="0" bIns="0" rIns="0">
              <a:spAutoFit/>
            </a:bodyPr>
            <a:lstStyle/>
            <a:p>
              <a:pPr algn="l" marL="0" indent="0" lvl="0">
                <a:lnSpc>
                  <a:spcPts val="12647"/>
                </a:lnSpc>
              </a:pPr>
              <a:r>
                <a:rPr lang="en-US" sz="9728" spc="-291">
                  <a:solidFill>
                    <a:srgbClr val="FFFFFF"/>
                  </a:solidFill>
                  <a:latin typeface="Comfortaa"/>
                  <a:ea typeface="Comfortaa"/>
                  <a:cs typeface="Comfortaa"/>
                  <a:sym typeface="Comfortaa"/>
                </a:rPr>
                <a:t>Kết luận</a:t>
              </a:r>
            </a:p>
          </p:txBody>
        </p:sp>
        <p:sp>
          <p:nvSpPr>
            <p:cNvPr name="TextBox 8" id="8"/>
            <p:cNvSpPr txBox="true"/>
            <p:nvPr/>
          </p:nvSpPr>
          <p:spPr>
            <a:xfrm rot="0">
              <a:off x="0" y="2662466"/>
              <a:ext cx="20988734" cy="627295"/>
            </a:xfrm>
            <a:prstGeom prst="rect">
              <a:avLst/>
            </a:prstGeom>
          </p:spPr>
          <p:txBody>
            <a:bodyPr anchor="t" rtlCol="false" tIns="0" lIns="0" bIns="0" rIns="0">
              <a:spAutoFit/>
            </a:bodyPr>
            <a:lstStyle/>
            <a:p>
              <a:pPr algn="l" marL="0" indent="0" lvl="0">
                <a:lnSpc>
                  <a:spcPts val="3648"/>
                </a:lnSpc>
                <a:spcBef>
                  <a:spcPct val="0"/>
                </a:spcBef>
              </a:pPr>
              <a:r>
                <a:rPr lang="en-US" sz="3040" spc="-45">
                  <a:solidFill>
                    <a:srgbClr val="FFFFFF"/>
                  </a:solidFill>
                  <a:latin typeface="Comfortaa"/>
                  <a:ea typeface="Comfortaa"/>
                  <a:cs typeface="Comfortaa"/>
                  <a:sym typeface="Comfortaa"/>
                </a:rPr>
                <a:t>Tóm tắt và đánh giá dự án</a:t>
              </a:r>
            </a:p>
          </p:txBody>
        </p:sp>
        <p:sp>
          <p:nvSpPr>
            <p:cNvPr name="TextBox 9" id="9"/>
            <p:cNvSpPr txBox="true"/>
            <p:nvPr/>
          </p:nvSpPr>
          <p:spPr>
            <a:xfrm rot="0">
              <a:off x="0" y="3650241"/>
              <a:ext cx="16431870" cy="2095020"/>
            </a:xfrm>
            <a:prstGeom prst="rect">
              <a:avLst/>
            </a:prstGeom>
          </p:spPr>
          <p:txBody>
            <a:bodyPr anchor="t" rtlCol="false" tIns="0" lIns="0" bIns="0" rIns="0">
              <a:spAutoFit/>
            </a:bodyPr>
            <a:lstStyle/>
            <a:p>
              <a:pPr algn="l" marL="0" indent="0" lvl="0">
                <a:lnSpc>
                  <a:spcPts val="4256"/>
                </a:lnSpc>
              </a:pPr>
              <a:r>
                <a:rPr lang="en-US" sz="3040" spc="-45">
                  <a:solidFill>
                    <a:srgbClr val="FFFFFF"/>
                  </a:solidFill>
                  <a:latin typeface="Comfortaa"/>
                  <a:ea typeface="Comfortaa"/>
                  <a:cs typeface="Comfortaa"/>
                  <a:sym typeface="Comfortaa"/>
                </a:rPr>
                <a:t>Dự án đã hoàn thành mục tiêu đề ra, cho thấy CNN hoạt động hiệu quả trong việc nhận dạng hình ảnh. GUI chạy ổn định, mang lại trải nghiệm người dùng tốt.</a:t>
              </a:r>
            </a:p>
          </p:txBody>
        </p:sp>
      </p:grpSp>
      <p:sp>
        <p:nvSpPr>
          <p:cNvPr name="Freeform 10" id="10"/>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72484" y="0"/>
            <a:ext cx="7079684" cy="10287000"/>
            <a:chOff x="0" y="0"/>
            <a:chExt cx="929757" cy="1350966"/>
          </a:xfrm>
        </p:grpSpPr>
        <p:sp>
          <p:nvSpPr>
            <p:cNvPr name="Freeform 3" id="3"/>
            <p:cNvSpPr/>
            <p:nvPr/>
          </p:nvSpPr>
          <p:spPr>
            <a:xfrm flipH="false" flipV="false" rot="0">
              <a:off x="0" y="0"/>
              <a:ext cx="929757" cy="1350966"/>
            </a:xfrm>
            <a:custGeom>
              <a:avLst/>
              <a:gdLst/>
              <a:ahLst/>
              <a:cxnLst/>
              <a:rect r="r" b="b" t="t" l="l"/>
              <a:pathLst>
                <a:path h="1350966" w="929757">
                  <a:moveTo>
                    <a:pt x="0" y="0"/>
                  </a:moveTo>
                  <a:lnTo>
                    <a:pt x="929757" y="0"/>
                  </a:lnTo>
                  <a:lnTo>
                    <a:pt x="929757" y="1350966"/>
                  </a:lnTo>
                  <a:lnTo>
                    <a:pt x="0" y="1350966"/>
                  </a:lnTo>
                  <a:close/>
                </a:path>
              </a:pathLst>
            </a:custGeom>
            <a:solidFill>
              <a:srgbClr val="0B1F4B"/>
            </a:solidFill>
            <a:ln w="12700">
              <a:solidFill>
                <a:srgbClr val="000000"/>
              </a:solidFill>
            </a:ln>
          </p:spPr>
        </p:sp>
      </p:grpSp>
      <p:sp>
        <p:nvSpPr>
          <p:cNvPr name="TextBox 4" id="4"/>
          <p:cNvSpPr txBox="true"/>
          <p:nvPr/>
        </p:nvSpPr>
        <p:spPr>
          <a:xfrm rot="0">
            <a:off x="8126086" y="2551274"/>
            <a:ext cx="9576891" cy="4546712"/>
          </a:xfrm>
          <a:prstGeom prst="rect">
            <a:avLst/>
          </a:prstGeom>
        </p:spPr>
        <p:txBody>
          <a:bodyPr anchor="t" rtlCol="false" tIns="0" lIns="0" bIns="0" rIns="0">
            <a:spAutoFit/>
          </a:bodyPr>
          <a:lstStyle/>
          <a:p>
            <a:pPr algn="l" marL="0" indent="0" lvl="0">
              <a:lnSpc>
                <a:spcPts val="16999"/>
              </a:lnSpc>
            </a:pPr>
            <a:r>
              <a:rPr lang="en-US" b="true" sz="13076" spc="-196">
                <a:solidFill>
                  <a:srgbClr val="0B1F4B"/>
                </a:solidFill>
                <a:latin typeface="Helvetica World Bold"/>
                <a:ea typeface="Helvetica World Bold"/>
                <a:cs typeface="Helvetica World Bold"/>
                <a:sym typeface="Helvetica World Bold"/>
              </a:rPr>
              <a:t>Cảm ơn đã lắng nghe!</a:t>
            </a:r>
          </a:p>
        </p:txBody>
      </p:sp>
      <p:sp>
        <p:nvSpPr>
          <p:cNvPr name="TextBox 5" id="5"/>
          <p:cNvSpPr txBox="true"/>
          <p:nvPr/>
        </p:nvSpPr>
        <p:spPr>
          <a:xfrm rot="0">
            <a:off x="1028700" y="3841555"/>
            <a:ext cx="10146751" cy="2432877"/>
          </a:xfrm>
          <a:prstGeom prst="rect">
            <a:avLst/>
          </a:prstGeom>
        </p:spPr>
        <p:txBody>
          <a:bodyPr anchor="t" rtlCol="false" tIns="0" lIns="0" bIns="0" rIns="0">
            <a:spAutoFit/>
          </a:bodyPr>
          <a:lstStyle/>
          <a:p>
            <a:pPr algn="l" marL="0" indent="0" lvl="0">
              <a:lnSpc>
                <a:spcPts val="18245"/>
              </a:lnSpc>
            </a:pPr>
            <a:r>
              <a:rPr lang="en-US" sz="18245" spc="-638">
                <a:solidFill>
                  <a:srgbClr val="FFFCF3"/>
                </a:solidFill>
                <a:latin typeface="Georgia Pro Condensed"/>
                <a:ea typeface="Georgia Pro Condensed"/>
                <a:cs typeface="Georgia Pro Condensed"/>
                <a:sym typeface="Georgia Pro Condensed"/>
              </a:rPr>
              <a:t>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Bài thuyết trình - CNN từ đầu</dc:description>
  <dc:identifier>DAG6NTmtUY4</dc:identifier>
  <dcterms:modified xsi:type="dcterms:W3CDTF">2011-08-01T06:04:30Z</dcterms:modified>
  <cp:revision>1</cp:revision>
  <dc:title>Bài thuyết trình - CNN từ đầu</dc:title>
</cp:coreProperties>
</file>